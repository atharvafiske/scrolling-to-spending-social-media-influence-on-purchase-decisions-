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8" r:id="rId4"/>
    <p:sldId id="275" r:id="rId5"/>
    <p:sldId id="276" r:id="rId6"/>
    <p:sldId id="266" r:id="rId7"/>
    <p:sldId id="281" r:id="rId8"/>
    <p:sldId id="261" r:id="rId9"/>
    <p:sldId id="262" r:id="rId10"/>
    <p:sldId id="263" r:id="rId11"/>
    <p:sldId id="280" r:id="rId12"/>
    <p:sldId id="265" r:id="rId13"/>
    <p:sldId id="277" r:id="rId14"/>
    <p:sldId id="279" r:id="rId15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72A"/>
    <a:srgbClr val="C81D7D"/>
    <a:srgbClr val="FBFCFD"/>
    <a:srgbClr val="1B1B1B"/>
    <a:srgbClr val="66CCFF"/>
    <a:srgbClr val="B3E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491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993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829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92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8108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369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0827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7597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9472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8081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893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2536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82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81528"/>
            <a:ext cx="5954197" cy="873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Scrolling to Spending: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2373330"/>
            <a:ext cx="7556421" cy="150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Analysing Social Media Influence on Purchase Decisions Among Indian College Students</a:t>
            </a:r>
            <a:endParaRPr lang="en-US" sz="3200" b="1" dirty="0"/>
          </a:p>
        </p:txBody>
      </p:sp>
      <p:sp>
        <p:nvSpPr>
          <p:cNvPr id="5" name="Shape 2"/>
          <p:cNvSpPr/>
          <p:nvPr/>
        </p:nvSpPr>
        <p:spPr>
          <a:xfrm>
            <a:off x="6280190" y="4656892"/>
            <a:ext cx="2369463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007EB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3898" y="4732496"/>
            <a:ext cx="208204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7EB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REGRESSION ANALYSIS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763000" y="4656892"/>
            <a:ext cx="2323743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007EB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06708" y="4732496"/>
            <a:ext cx="203632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7EB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K-MEANS CLUSTERING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80190" y="5211723"/>
            <a:ext cx="5586889" cy="426244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sp>
        <p:nvSpPr>
          <p:cNvPr id="10" name="Text 7"/>
          <p:cNvSpPr/>
          <p:nvPr/>
        </p:nvSpPr>
        <p:spPr>
          <a:xfrm>
            <a:off x="6416278" y="5279708"/>
            <a:ext cx="531471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MBA BUSINESS ANALYTICS </a:t>
            </a:r>
            <a:endParaRPr lang="en-US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A37245-FB76-E9AC-C1FD-27F235A6E035}"/>
              </a:ext>
            </a:extLst>
          </p:cNvPr>
          <p:cNvSpPr/>
          <p:nvPr/>
        </p:nvSpPr>
        <p:spPr>
          <a:xfrm>
            <a:off x="12842697" y="7777537"/>
            <a:ext cx="1695236" cy="359596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9379"/>
            <a:ext cx="2381607" cy="602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93790" y="1409581"/>
            <a:ext cx="12782074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India's Social Media Economy Is Reshaping How Youth Buy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1436846" y="2313384"/>
            <a:ext cx="5144453" cy="59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b="1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467M+</a:t>
            </a:r>
            <a:endParaRPr lang="en-US" sz="4700" dirty="0"/>
          </a:p>
        </p:txBody>
      </p:sp>
      <p:sp>
        <p:nvSpPr>
          <p:cNvPr id="5" name="Text 3"/>
          <p:cNvSpPr/>
          <p:nvPr/>
        </p:nvSpPr>
        <p:spPr>
          <a:xfrm>
            <a:off x="2818328" y="3111698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Social Media Users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3790" y="3496389"/>
            <a:ext cx="6430685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India as of 2024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48982" y="2313384"/>
            <a:ext cx="5144453" cy="59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b="1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₹4.4T</a:t>
            </a:r>
            <a:endParaRPr lang="en-US" sz="4700" dirty="0"/>
          </a:p>
        </p:txBody>
      </p:sp>
      <p:sp>
        <p:nvSpPr>
          <p:cNvPr id="8" name="Text 6"/>
          <p:cNvSpPr/>
          <p:nvPr/>
        </p:nvSpPr>
        <p:spPr>
          <a:xfrm>
            <a:off x="9430464" y="3111698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E-Commerce Market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405926" y="3496389"/>
            <a:ext cx="6430685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market size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36846" y="4138613"/>
            <a:ext cx="5144453" cy="59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b="1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73%</a:t>
            </a:r>
            <a:endParaRPr lang="en-US" sz="4700" dirty="0"/>
          </a:p>
        </p:txBody>
      </p:sp>
      <p:sp>
        <p:nvSpPr>
          <p:cNvPr id="11" name="Text 9"/>
          <p:cNvSpPr/>
          <p:nvPr/>
        </p:nvSpPr>
        <p:spPr>
          <a:xfrm>
            <a:off x="2818328" y="4936927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Youth Influenced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93790" y="5321617"/>
            <a:ext cx="6430685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online content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048982" y="4138613"/>
            <a:ext cx="5144453" cy="59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b="1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4.2hrs</a:t>
            </a:r>
            <a:endParaRPr lang="en-US" sz="4700" dirty="0"/>
          </a:p>
        </p:txBody>
      </p:sp>
      <p:sp>
        <p:nvSpPr>
          <p:cNvPr id="14" name="Text 12"/>
          <p:cNvSpPr/>
          <p:nvPr/>
        </p:nvSpPr>
        <p:spPr>
          <a:xfrm>
            <a:off x="9430464" y="4936927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Daily Screen Time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405926" y="5321617"/>
            <a:ext cx="6430685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avg. for ages 18–25</a:t>
            </a:r>
            <a:endParaRPr lang="en-US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1774" y="5751612"/>
            <a:ext cx="272177" cy="27217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383506" y="5746075"/>
            <a:ext cx="288726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Fastest-Growing User Base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383506" y="6130766"/>
            <a:ext cx="3636883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India ranks among the world's largest social media markets, with youth aged 18–30 as the most active segment.</a:t>
            </a:r>
            <a:endParaRPr lang="en-US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9825" y="5751612"/>
            <a:ext cx="272177" cy="27217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791557" y="5746075"/>
            <a:ext cx="342471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Reshaped Discovery &amp; Decision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5791557" y="6130766"/>
            <a:ext cx="3636883" cy="1044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Influencer reels, peer sharing, and targeted ads have fundamentally altered how college students find and evaluate products.</a:t>
            </a:r>
            <a:endParaRPr lang="en-US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77876" y="5751612"/>
            <a:ext cx="272177" cy="27217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199608" y="5746075"/>
            <a:ext cx="318277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Underresearched Domain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10199608" y="6130766"/>
            <a:ext cx="3637002" cy="1044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study fills the academic gap by applying quantitative methods to model and segment social-media-driven purchase behaviour in India.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C1388D-87C7-8A22-EAF5-895E10FADF4D}"/>
              </a:ext>
            </a:extLst>
          </p:cNvPr>
          <p:cNvSpPr/>
          <p:nvPr/>
        </p:nvSpPr>
        <p:spPr>
          <a:xfrm>
            <a:off x="12842697" y="7777537"/>
            <a:ext cx="1695236" cy="359596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046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0"/>
            <a:ext cx="1316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</a:rPr>
              <a:t>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38912" y="1053389"/>
            <a:ext cx="8046720" cy="6656832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053389"/>
            <a:ext cx="8046720" cy="585216"/>
          </a:xfrm>
          <a:prstGeom prst="rect">
            <a:avLst/>
          </a:prstGeom>
          <a:solidFill>
            <a:srgbClr val="C81D7D"/>
          </a:solidFill>
          <a:ln/>
        </p:spPr>
      </p:sp>
      <p:sp>
        <p:nvSpPr>
          <p:cNvPr id="6" name="Text 4"/>
          <p:cNvSpPr/>
          <p:nvPr/>
        </p:nvSpPr>
        <p:spPr>
          <a:xfrm>
            <a:off x="585216" y="1053389"/>
            <a:ext cx="77541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58368" y="1828800"/>
            <a:ext cx="438912" cy="438912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82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</a:rPr>
              <a:t>1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243584" y="1755648"/>
            <a:ext cx="7022592" cy="1141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E293B"/>
                </a:solidFill>
              </a:rPr>
              <a:t>Indian youth spend 4+ hours daily on social media, yet quantitative evidence on how this translates to actual purchase behavior remains sparse in Indian academic literature.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3116275"/>
            <a:ext cx="438912" cy="438912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311627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</a:rPr>
              <a:t>2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43584" y="3043123"/>
            <a:ext cx="7022592" cy="1141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E293B"/>
                </a:solidFill>
              </a:rPr>
              <a:t>Brands and marketers invest heavily in influencer campaigns without clear data on which factors — influencer credibility, peer reviews, or ad exposure — drive buying decisions most.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58368" y="4403750"/>
            <a:ext cx="438912" cy="438912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440375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</a:rPr>
              <a:t>3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43584" y="4330599"/>
            <a:ext cx="7022592" cy="1141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E293B"/>
                </a:solidFill>
              </a:rPr>
              <a:t>Existing studies are largely qualitative or conducted in Western contexts, limiting their applicability to Indian college-going consumers.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8368" y="5691226"/>
            <a:ext cx="438912" cy="438912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569122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</a:rPr>
              <a:t>4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43584" y="5618074"/>
            <a:ext cx="7022592" cy="1141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E293B"/>
                </a:solidFill>
              </a:rPr>
              <a:t>There is no evidence-based segmentation of Indian college students as social-media-driven consumers, making targeted marketing strategies guesswork.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778240" y="1053389"/>
            <a:ext cx="5413248" cy="3072384"/>
          </a:xfrm>
          <a:prstGeom prst="rect">
            <a:avLst/>
          </a:prstGeom>
          <a:solidFill>
            <a:schemeClr val="accent5">
              <a:lumMod val="50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924544" y="1141171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chemeClr val="bg1"/>
                </a:solidFill>
              </a:rPr>
              <a:t>RESEARCH GAP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8924544" y="1682496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FFFFFF"/>
                </a:solidFill>
              </a:rPr>
              <a:t>No existing Indian study combines SOR framework, factor analysis, multiple regression, AND K-Means clustering to holistically model AND segment social-media-driven purchase behavior among college students.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778240" y="4345229"/>
            <a:ext cx="5413248" cy="3364992"/>
          </a:xfrm>
          <a:prstGeom prst="rect">
            <a:avLst/>
          </a:prstGeom>
          <a:solidFill>
            <a:schemeClr val="accent5">
              <a:lumMod val="50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924544" y="4433011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</a:rPr>
              <a:t>RESEARCH QUESTION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924544" y="4974336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FFFFFF"/>
                </a:solidFill>
              </a:rPr>
              <a:t>"To what extent does social media usage — across platform type, content exposure, influencer trust, and peer influence — affect purchase intentions of Indian college students, and what distinct consumer segments emerge from these behavioral patterns?"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87167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2435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0"/>
            <a:ext cx="13459968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520" b="1" dirty="0">
                <a:solidFill>
                  <a:srgbClr val="FFFFFF"/>
                </a:solidFill>
              </a:rPr>
              <a:t>Research Objectives &amp; Hypotheses</a:t>
            </a:r>
            <a:endParaRPr lang="en-US" sz="3520" dirty="0"/>
          </a:p>
        </p:txBody>
      </p:sp>
      <p:sp>
        <p:nvSpPr>
          <p:cNvPr id="6" name="Shape 4"/>
          <p:cNvSpPr/>
          <p:nvPr/>
        </p:nvSpPr>
        <p:spPr>
          <a:xfrm>
            <a:off x="438912" y="1463040"/>
            <a:ext cx="6583680" cy="6320333"/>
          </a:xfrm>
          <a:prstGeom prst="rect">
            <a:avLst/>
          </a:prstGeom>
          <a:solidFill>
            <a:srgbClr val="F4F6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" y="1463040"/>
            <a:ext cx="6583680" cy="102413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609344"/>
            <a:ext cx="6291072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40" b="1" dirty="0">
                <a:solidFill>
                  <a:srgbClr val="6C3483"/>
                </a:solidFill>
              </a:rPr>
              <a:t>3 Research Objectives</a:t>
            </a:r>
            <a:endParaRPr lang="en-US" sz="2240" dirty="0"/>
          </a:p>
        </p:txBody>
      </p:sp>
      <p:sp>
        <p:nvSpPr>
          <p:cNvPr id="9" name="Shape 7"/>
          <p:cNvSpPr/>
          <p:nvPr/>
        </p:nvSpPr>
        <p:spPr>
          <a:xfrm>
            <a:off x="731520" y="2370125"/>
            <a:ext cx="614477" cy="614477"/>
          </a:xfrm>
          <a:prstGeom prst="rect">
            <a:avLst/>
          </a:prstGeom>
          <a:solidFill>
            <a:srgbClr val="6C348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399385"/>
            <a:ext cx="61447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O1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36192" y="1881962"/>
            <a:ext cx="5266944" cy="16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0F172A"/>
                </a:solidFill>
              </a:rPr>
              <a:t>Identify which social media factors significantly predict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F172A"/>
                </a:solidFill>
              </a:rPr>
              <a:t>Purchase Intention among Indian college students.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4125773"/>
            <a:ext cx="614477" cy="614477"/>
          </a:xfrm>
          <a:prstGeom prst="rect">
            <a:avLst/>
          </a:prstGeom>
          <a:solidFill>
            <a:srgbClr val="6C348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4125773"/>
            <a:ext cx="61447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O2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36192" y="3569819"/>
            <a:ext cx="526694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0F172A"/>
                </a:solidFill>
              </a:rPr>
              <a:t>Identify which social media factors significantly predict</a:t>
            </a:r>
            <a:r>
              <a:rPr lang="en-US" sz="2000" dirty="0"/>
              <a:t> i</a:t>
            </a:r>
            <a:r>
              <a:rPr lang="en-US" sz="2000" dirty="0">
                <a:solidFill>
                  <a:srgbClr val="0F172A"/>
                </a:solidFill>
              </a:rPr>
              <a:t>mpulse Buying among Indian college students.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31520" y="5881421"/>
            <a:ext cx="614477" cy="614477"/>
          </a:xfrm>
          <a:prstGeom prst="rect">
            <a:avLst/>
          </a:prstGeom>
          <a:solidFill>
            <a:srgbClr val="6C348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5881421"/>
            <a:ext cx="61447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O3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36192" y="5325467"/>
            <a:ext cx="526694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0F172A"/>
                </a:solidFill>
              </a:rPr>
              <a:t>Segment Indian college students into distinct consumer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F172A"/>
                </a:solidFill>
              </a:rPr>
              <a:t>groups using K-Means Cluster Analysis.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461504" y="1463040"/>
            <a:ext cx="6729984" cy="6320333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61504" y="1463040"/>
            <a:ext cx="6729984" cy="102413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20" name="Text 18"/>
          <p:cNvSpPr/>
          <p:nvPr/>
        </p:nvSpPr>
        <p:spPr>
          <a:xfrm>
            <a:off x="7607808" y="1609344"/>
            <a:ext cx="6437376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40" b="1" dirty="0">
                <a:solidFill>
                  <a:srgbClr val="E91E8C"/>
                </a:solidFill>
              </a:rPr>
              <a:t>3 Research Hypotheses</a:t>
            </a:r>
            <a:endParaRPr lang="en-US" sz="2240" dirty="0"/>
          </a:p>
        </p:txBody>
      </p:sp>
      <p:sp>
        <p:nvSpPr>
          <p:cNvPr id="21" name="Shape 19"/>
          <p:cNvSpPr/>
          <p:nvPr/>
        </p:nvSpPr>
        <p:spPr>
          <a:xfrm>
            <a:off x="7754112" y="2370125"/>
            <a:ext cx="614477" cy="614477"/>
          </a:xfrm>
          <a:prstGeom prst="rect">
            <a:avLst/>
          </a:prstGeom>
          <a:solidFill>
            <a:srgbClr val="E91E8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54112" y="2370125"/>
            <a:ext cx="61447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H1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58784" y="1784909"/>
            <a:ext cx="5413248" cy="1784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E2E8F0"/>
                </a:solidFill>
              </a:rPr>
              <a:t>Influencer Trust has a significant positive influence on Purchase Intention and Impulse Buying.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754112" y="4125773"/>
            <a:ext cx="614477" cy="614477"/>
          </a:xfrm>
          <a:prstGeom prst="rect">
            <a:avLst/>
          </a:prstGeom>
          <a:solidFill>
            <a:srgbClr val="E91E8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54112" y="4125773"/>
            <a:ext cx="61447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H2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58784" y="3584449"/>
            <a:ext cx="5413248" cy="159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E2E8F0"/>
                </a:solidFill>
              </a:rPr>
              <a:t>Social Proof has a significant positive influence on Purchase Intention and Impulse Buying.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754112" y="5881421"/>
            <a:ext cx="614477" cy="614477"/>
          </a:xfrm>
          <a:prstGeom prst="rect">
            <a:avLst/>
          </a:prstGeom>
          <a:solidFill>
            <a:srgbClr val="E91E8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754112" y="5881421"/>
            <a:ext cx="61447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H3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58784" y="5325467"/>
            <a:ext cx="5413248" cy="1755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E2E8F0"/>
                </a:solidFill>
              </a:rPr>
              <a:t>Social Media Attitude has a significant positive influence on Purchase Intention and Impulse Buying.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38912" y="7871155"/>
            <a:ext cx="13752576" cy="43891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1" name="Text 29"/>
          <p:cNvSpPr/>
          <p:nvPr/>
        </p:nvSpPr>
        <p:spPr>
          <a:xfrm>
            <a:off x="585216" y="7885786"/>
            <a:ext cx="13459968" cy="409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40" dirty="0">
                <a:solidFill>
                  <a:srgbClr val="64748B"/>
                </a:solidFill>
              </a:rPr>
              <a:t>Each hypothesis is tested for BOTH dependent variables: Purchase Intention (O1) and Impulse Buying (O2)  |  O3 addressed by Cluster Analysis</a:t>
            </a:r>
            <a:endParaRPr lang="en-US" sz="1440" dirty="0"/>
          </a:p>
        </p:txBody>
      </p:sp>
    </p:spTree>
    <p:extLst>
      <p:ext uri="{BB962C8B-B14F-4D97-AF65-F5344CB8AC3E}">
        <p14:creationId xmlns:p14="http://schemas.microsoft.com/office/powerpoint/2010/main" val="3408794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2435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0"/>
            <a:ext cx="13459968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520" b="1" dirty="0">
                <a:solidFill>
                  <a:srgbClr val="FFFFFF"/>
                </a:solidFill>
              </a:rPr>
              <a:t>Research Framework — SOR Model</a:t>
            </a:r>
            <a:endParaRPr lang="en-US" sz="3520" dirty="0"/>
          </a:p>
        </p:txBody>
      </p:sp>
      <p:sp>
        <p:nvSpPr>
          <p:cNvPr id="5" name="Text 3"/>
          <p:cNvSpPr/>
          <p:nvPr/>
        </p:nvSpPr>
        <p:spPr>
          <a:xfrm>
            <a:off x="11996928" y="321869"/>
            <a:ext cx="234086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438912" y="1536192"/>
            <a:ext cx="3657600" cy="5559552"/>
          </a:xfrm>
          <a:prstGeom prst="rect">
            <a:avLst/>
          </a:prstGeom>
          <a:solidFill>
            <a:srgbClr val="6C348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168249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80" b="1" kern="0" spc="480" dirty="0">
                <a:solidFill>
                  <a:srgbClr val="FFFFFF"/>
                </a:solidFill>
              </a:rPr>
              <a:t>STIMULUS</a:t>
            </a:r>
            <a:endParaRPr lang="en-US" sz="2080" dirty="0"/>
          </a:p>
        </p:txBody>
      </p:sp>
      <p:sp>
        <p:nvSpPr>
          <p:cNvPr id="8" name="Text 6"/>
          <p:cNvSpPr/>
          <p:nvPr/>
        </p:nvSpPr>
        <p:spPr>
          <a:xfrm>
            <a:off x="438912" y="2414016"/>
            <a:ext cx="3657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60" dirty="0">
                <a:solidFill>
                  <a:srgbClr val="E2E8F0"/>
                </a:solidFill>
              </a:rPr>
              <a:t>Social Media</a:t>
            </a:r>
            <a:endParaRPr lang="en-US" sz="1760" dirty="0"/>
          </a:p>
          <a:p>
            <a:pPr algn="ctr">
              <a:lnSpc>
                <a:spcPct val="120000"/>
              </a:lnSpc>
            </a:pPr>
            <a:r>
              <a:rPr lang="en-US" sz="1760" dirty="0">
                <a:solidFill>
                  <a:srgbClr val="E2E8F0"/>
                </a:solidFill>
              </a:rPr>
              <a:t>Exposure</a:t>
            </a:r>
            <a:endParaRPr lang="en-US" sz="1760" dirty="0"/>
          </a:p>
        </p:txBody>
      </p:sp>
      <p:sp>
        <p:nvSpPr>
          <p:cNvPr id="9" name="Shape 7"/>
          <p:cNvSpPr/>
          <p:nvPr/>
        </p:nvSpPr>
        <p:spPr>
          <a:xfrm>
            <a:off x="658368" y="3482035"/>
            <a:ext cx="3218688" cy="43891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730752"/>
            <a:ext cx="263347" cy="263347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657600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FFFFF"/>
                </a:solidFill>
              </a:rPr>
              <a:t>Instagram / YouTube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4579315"/>
            <a:ext cx="263347" cy="263347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506163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FFFFF"/>
                </a:solidFill>
              </a:rPr>
              <a:t>Influencer Posts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5427879"/>
            <a:ext cx="263347" cy="263347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5354726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FFFFF"/>
                </a:solidFill>
              </a:rPr>
              <a:t>Ads &amp; Reviews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13248" y="1536192"/>
            <a:ext cx="3657600" cy="5559552"/>
          </a:xfrm>
          <a:prstGeom prst="rect">
            <a:avLst/>
          </a:prstGeom>
          <a:solidFill>
            <a:srgbClr val="E91E8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13248" y="168249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80" b="1" kern="0" spc="480" dirty="0">
                <a:solidFill>
                  <a:srgbClr val="FFFFFF"/>
                </a:solidFill>
              </a:rPr>
              <a:t>ORGANISM</a:t>
            </a:r>
            <a:endParaRPr lang="en-US" sz="2080" dirty="0"/>
          </a:p>
        </p:txBody>
      </p:sp>
      <p:sp>
        <p:nvSpPr>
          <p:cNvPr id="18" name="Text 16"/>
          <p:cNvSpPr/>
          <p:nvPr/>
        </p:nvSpPr>
        <p:spPr>
          <a:xfrm>
            <a:off x="5413248" y="2414016"/>
            <a:ext cx="3657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60" dirty="0">
                <a:solidFill>
                  <a:srgbClr val="E2E8F0"/>
                </a:solidFill>
              </a:rPr>
              <a:t>Internal</a:t>
            </a:r>
            <a:endParaRPr lang="en-US" sz="1760" dirty="0"/>
          </a:p>
          <a:p>
            <a:pPr algn="ctr">
              <a:lnSpc>
                <a:spcPct val="120000"/>
              </a:lnSpc>
            </a:pPr>
            <a:r>
              <a:rPr lang="en-US" sz="1760" dirty="0">
                <a:solidFill>
                  <a:srgbClr val="E2E8F0"/>
                </a:solidFill>
              </a:rPr>
              <a:t>Processing</a:t>
            </a:r>
            <a:endParaRPr lang="en-US" sz="1760" dirty="0"/>
          </a:p>
        </p:txBody>
      </p:sp>
      <p:sp>
        <p:nvSpPr>
          <p:cNvPr id="19" name="Shape 17"/>
          <p:cNvSpPr/>
          <p:nvPr/>
        </p:nvSpPr>
        <p:spPr>
          <a:xfrm>
            <a:off x="5632704" y="3482035"/>
            <a:ext cx="3218688" cy="43891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705856" y="3730752"/>
            <a:ext cx="263347" cy="263347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71616" y="3657600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FFFFF"/>
                </a:solidFill>
              </a:rPr>
              <a:t>Influencer Trust (H1)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05856" y="4579315"/>
            <a:ext cx="263347" cy="263347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71616" y="4506163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FFFFF"/>
                </a:solidFill>
              </a:rPr>
              <a:t>Social Proof (H2)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05856" y="5427879"/>
            <a:ext cx="263347" cy="263347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71616" y="5354726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FFFFF"/>
                </a:solidFill>
              </a:rPr>
              <a:t>SM Attitude (H3)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387584" y="1536192"/>
            <a:ext cx="3657600" cy="5559552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387584" y="168249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80" b="1" kern="0" spc="480" dirty="0">
                <a:solidFill>
                  <a:srgbClr val="FFFFFF"/>
                </a:solidFill>
              </a:rPr>
              <a:t>RESPONSE</a:t>
            </a:r>
            <a:endParaRPr lang="en-US" sz="2080" dirty="0"/>
          </a:p>
        </p:txBody>
      </p:sp>
      <p:sp>
        <p:nvSpPr>
          <p:cNvPr id="28" name="Text 26"/>
          <p:cNvSpPr/>
          <p:nvPr/>
        </p:nvSpPr>
        <p:spPr>
          <a:xfrm>
            <a:off x="10387584" y="2414016"/>
            <a:ext cx="3657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60" dirty="0">
                <a:solidFill>
                  <a:srgbClr val="E2E8F0"/>
                </a:solidFill>
              </a:rPr>
              <a:t>Buying</a:t>
            </a:r>
            <a:endParaRPr lang="en-US" sz="1760" dirty="0"/>
          </a:p>
          <a:p>
            <a:pPr algn="ctr">
              <a:lnSpc>
                <a:spcPct val="120000"/>
              </a:lnSpc>
            </a:pPr>
            <a:r>
              <a:rPr lang="en-US" sz="1760" dirty="0">
                <a:solidFill>
                  <a:srgbClr val="E2E8F0"/>
                </a:solidFill>
              </a:rPr>
              <a:t>Behaviour</a:t>
            </a:r>
            <a:endParaRPr lang="en-US" sz="1760" dirty="0"/>
          </a:p>
        </p:txBody>
      </p:sp>
      <p:sp>
        <p:nvSpPr>
          <p:cNvPr id="29" name="Shape 27"/>
          <p:cNvSpPr/>
          <p:nvPr/>
        </p:nvSpPr>
        <p:spPr>
          <a:xfrm>
            <a:off x="10607040" y="3482035"/>
            <a:ext cx="3218688" cy="43891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680192" y="3730752"/>
            <a:ext cx="263347" cy="263347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045952" y="3657600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FFFFF"/>
                </a:solidFill>
              </a:rPr>
              <a:t>Purchase Intention (O1)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680192" y="4579315"/>
            <a:ext cx="263347" cy="263347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045952" y="4506163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FFFFF"/>
                </a:solidFill>
              </a:rPr>
              <a:t>Impulse Buying (O2)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125773" y="4169664"/>
            <a:ext cx="1243584" cy="8778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5" name="Text 33"/>
          <p:cNvSpPr/>
          <p:nvPr/>
        </p:nvSpPr>
        <p:spPr>
          <a:xfrm>
            <a:off x="5003597" y="397946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40" dirty="0">
                <a:solidFill>
                  <a:srgbClr val="64748B"/>
                </a:solidFill>
              </a:rPr>
              <a:t>▶</a:t>
            </a:r>
            <a:endParaRPr lang="en-US" sz="2240" dirty="0"/>
          </a:p>
        </p:txBody>
      </p:sp>
      <p:sp>
        <p:nvSpPr>
          <p:cNvPr id="36" name="Shape 34"/>
          <p:cNvSpPr/>
          <p:nvPr/>
        </p:nvSpPr>
        <p:spPr>
          <a:xfrm>
            <a:off x="9100109" y="4169664"/>
            <a:ext cx="1243584" cy="8778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7" name="Text 35"/>
          <p:cNvSpPr/>
          <p:nvPr/>
        </p:nvSpPr>
        <p:spPr>
          <a:xfrm>
            <a:off x="9977933" y="397946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40" dirty="0">
                <a:solidFill>
                  <a:srgbClr val="64748B"/>
                </a:solidFill>
              </a:rPr>
              <a:t>▶</a:t>
            </a:r>
            <a:endParaRPr lang="en-US" sz="2240" dirty="0"/>
          </a:p>
        </p:txBody>
      </p:sp>
      <p:sp>
        <p:nvSpPr>
          <p:cNvPr id="38" name="Shape 36"/>
          <p:cNvSpPr/>
          <p:nvPr/>
        </p:nvSpPr>
        <p:spPr>
          <a:xfrm>
            <a:off x="438912" y="7388352"/>
            <a:ext cx="13752576" cy="555955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9" name="Text 37"/>
          <p:cNvSpPr/>
          <p:nvPr/>
        </p:nvSpPr>
        <p:spPr>
          <a:xfrm>
            <a:off x="585216" y="7402983"/>
            <a:ext cx="13459968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40" dirty="0">
                <a:solidFill>
                  <a:srgbClr val="64748B"/>
                </a:solidFill>
              </a:rPr>
              <a:t>H1 (Influencer Trust), H2 (Social Proof), H3 (SM Attitude) tested as Organism variables → predicting Purchase Intention and Impulse Buying  |  O3: Clustering segments respondents</a:t>
            </a:r>
            <a:endParaRPr lang="en-US" sz="1440" dirty="0"/>
          </a:p>
        </p:txBody>
      </p:sp>
    </p:spTree>
    <p:extLst>
      <p:ext uri="{BB962C8B-B14F-4D97-AF65-F5344CB8AC3E}">
        <p14:creationId xmlns:p14="http://schemas.microsoft.com/office/powerpoint/2010/main" val="1984664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04672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0"/>
            <a:ext cx="1316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RESEARCH METHODOLOGY &amp; DATA COLLECTION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38912" y="994867"/>
            <a:ext cx="8046720" cy="158008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994867"/>
            <a:ext cx="234086" cy="1580083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" name="Text 4"/>
          <p:cNvSpPr/>
          <p:nvPr/>
        </p:nvSpPr>
        <p:spPr>
          <a:xfrm>
            <a:off x="819302" y="1082650"/>
            <a:ext cx="746150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6C3483"/>
                </a:solidFill>
              </a:rPr>
              <a:t>Research Design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9302" y="1492301"/>
            <a:ext cx="7461504" cy="965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E293B"/>
                </a:solidFill>
              </a:rPr>
              <a:t>Quantitative, cross-sectional descriptive research design using primary data collection.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8912" y="2721255"/>
            <a:ext cx="8046720" cy="158008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" y="2721255"/>
            <a:ext cx="234086" cy="1580083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0" name="Text 8"/>
          <p:cNvSpPr/>
          <p:nvPr/>
        </p:nvSpPr>
        <p:spPr>
          <a:xfrm>
            <a:off x="819302" y="2809037"/>
            <a:ext cx="746150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E91E8C"/>
                </a:solidFill>
              </a:rPr>
              <a:t>Population &amp; Sample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19302" y="3218688"/>
            <a:ext cx="7461504" cy="965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E293B"/>
                </a:solidFill>
              </a:rPr>
              <a:t>College students aged 18–26 across Indian institutions. Sample </a:t>
            </a:r>
            <a:r>
              <a:rPr lang="en-US">
                <a:solidFill>
                  <a:srgbClr val="1E293B"/>
                </a:solidFill>
              </a:rPr>
              <a:t>size:200 respondents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38912" y="4447642"/>
            <a:ext cx="8046720" cy="158008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" y="4447642"/>
            <a:ext cx="234086" cy="1580083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4" name="Text 12"/>
          <p:cNvSpPr/>
          <p:nvPr/>
        </p:nvSpPr>
        <p:spPr>
          <a:xfrm>
            <a:off x="819302" y="4535424"/>
            <a:ext cx="746150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6C3483"/>
                </a:solidFill>
              </a:rPr>
              <a:t>Sampling Method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19302" y="4945075"/>
            <a:ext cx="7461504" cy="965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E293B"/>
                </a:solidFill>
              </a:rPr>
              <a:t>Convenience sampling via WhatsApp, Instagram, and college networks.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38912" y="6174029"/>
            <a:ext cx="8046720" cy="158008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" y="6174029"/>
            <a:ext cx="234086" cy="1580083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8" name="Text 16"/>
          <p:cNvSpPr/>
          <p:nvPr/>
        </p:nvSpPr>
        <p:spPr>
          <a:xfrm>
            <a:off x="819302" y="6261811"/>
            <a:ext cx="746150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E91E8C"/>
                </a:solidFill>
              </a:rPr>
              <a:t>Data Collection Tool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19302" y="6671463"/>
            <a:ext cx="7461504" cy="965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80" dirty="0">
                <a:solidFill>
                  <a:srgbClr val="1E293B"/>
                </a:solidFill>
              </a:rPr>
              <a:t>Structured Google Form with 35 questions across 5 sections: Demographics, Usage, Exposure, Behavior, Likert Scale.</a:t>
            </a:r>
            <a:endParaRPr lang="en-US" sz="1680" dirty="0"/>
          </a:p>
        </p:txBody>
      </p:sp>
      <p:sp>
        <p:nvSpPr>
          <p:cNvPr id="20" name="Shape 18"/>
          <p:cNvSpPr/>
          <p:nvPr/>
        </p:nvSpPr>
        <p:spPr>
          <a:xfrm>
            <a:off x="8778240" y="994867"/>
            <a:ext cx="5413248" cy="555955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21" name="Text 19"/>
          <p:cNvSpPr/>
          <p:nvPr/>
        </p:nvSpPr>
        <p:spPr>
          <a:xfrm>
            <a:off x="8851392" y="994867"/>
            <a:ext cx="5266944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60" b="1" dirty="0">
                <a:solidFill>
                  <a:srgbClr val="FFFFFF"/>
                </a:solidFill>
              </a:rPr>
              <a:t>SURVEY STRUCTURE</a:t>
            </a:r>
            <a:endParaRPr lang="en-US" sz="1760" dirty="0"/>
          </a:p>
        </p:txBody>
      </p:sp>
      <p:sp>
        <p:nvSpPr>
          <p:cNvPr id="22" name="Shape 20"/>
          <p:cNvSpPr/>
          <p:nvPr/>
        </p:nvSpPr>
        <p:spPr>
          <a:xfrm>
            <a:off x="8778240" y="1638605"/>
            <a:ext cx="5413248" cy="81930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778240" y="1638605"/>
            <a:ext cx="658368" cy="819302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4" name="Text 22"/>
          <p:cNvSpPr/>
          <p:nvPr/>
        </p:nvSpPr>
        <p:spPr>
          <a:xfrm>
            <a:off x="8778240" y="1638605"/>
            <a:ext cx="658368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40" b="1" dirty="0">
                <a:solidFill>
                  <a:srgbClr val="FFFFFF"/>
                </a:solidFill>
              </a:rPr>
              <a:t>A</a:t>
            </a:r>
            <a:endParaRPr lang="en-US" sz="2240" dirty="0"/>
          </a:p>
        </p:txBody>
      </p:sp>
      <p:sp>
        <p:nvSpPr>
          <p:cNvPr id="25" name="Text 23"/>
          <p:cNvSpPr/>
          <p:nvPr/>
        </p:nvSpPr>
        <p:spPr>
          <a:xfrm>
            <a:off x="9582912" y="1711757"/>
            <a:ext cx="336499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60" b="1" dirty="0">
                <a:solidFill>
                  <a:srgbClr val="1E293B"/>
                </a:solidFill>
              </a:rPr>
              <a:t>Demographics</a:t>
            </a:r>
            <a:endParaRPr lang="en-US" sz="1760" dirty="0"/>
          </a:p>
        </p:txBody>
      </p:sp>
      <p:sp>
        <p:nvSpPr>
          <p:cNvPr id="26" name="Text 24"/>
          <p:cNvSpPr/>
          <p:nvPr/>
        </p:nvSpPr>
        <p:spPr>
          <a:xfrm>
            <a:off x="13167360" y="1711757"/>
            <a:ext cx="95097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760" b="1" dirty="0">
                <a:solidFill>
                  <a:srgbClr val="6C3483"/>
                </a:solidFill>
              </a:rPr>
              <a:t>6 Qs</a:t>
            </a:r>
            <a:endParaRPr lang="en-US" sz="1760" dirty="0"/>
          </a:p>
        </p:txBody>
      </p:sp>
      <p:sp>
        <p:nvSpPr>
          <p:cNvPr id="27" name="Text 25"/>
          <p:cNvSpPr/>
          <p:nvPr/>
        </p:nvSpPr>
        <p:spPr>
          <a:xfrm>
            <a:off x="9582912" y="210677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40" dirty="0"/>
          </a:p>
        </p:txBody>
      </p:sp>
      <p:sp>
        <p:nvSpPr>
          <p:cNvPr id="28" name="Shape 26"/>
          <p:cNvSpPr/>
          <p:nvPr/>
        </p:nvSpPr>
        <p:spPr>
          <a:xfrm>
            <a:off x="8778240" y="2604211"/>
            <a:ext cx="5413248" cy="81930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778240" y="2604211"/>
            <a:ext cx="658368" cy="819302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0" name="Text 28"/>
          <p:cNvSpPr/>
          <p:nvPr/>
        </p:nvSpPr>
        <p:spPr>
          <a:xfrm>
            <a:off x="8778240" y="2604211"/>
            <a:ext cx="658368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40" b="1" dirty="0">
                <a:solidFill>
                  <a:srgbClr val="FFFFFF"/>
                </a:solidFill>
              </a:rPr>
              <a:t>B</a:t>
            </a:r>
            <a:endParaRPr lang="en-US" sz="2240" dirty="0"/>
          </a:p>
        </p:txBody>
      </p:sp>
      <p:sp>
        <p:nvSpPr>
          <p:cNvPr id="31" name="Text 29"/>
          <p:cNvSpPr/>
          <p:nvPr/>
        </p:nvSpPr>
        <p:spPr>
          <a:xfrm>
            <a:off x="9582912" y="2677363"/>
            <a:ext cx="336499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60" b="1" dirty="0">
                <a:solidFill>
                  <a:srgbClr val="1E293B"/>
                </a:solidFill>
              </a:rPr>
              <a:t>SM Usage</a:t>
            </a:r>
            <a:endParaRPr lang="en-US" sz="1760" dirty="0"/>
          </a:p>
        </p:txBody>
      </p:sp>
      <p:sp>
        <p:nvSpPr>
          <p:cNvPr id="32" name="Text 30"/>
          <p:cNvSpPr/>
          <p:nvPr/>
        </p:nvSpPr>
        <p:spPr>
          <a:xfrm>
            <a:off x="13167360" y="2677363"/>
            <a:ext cx="95097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760" b="1" dirty="0">
                <a:solidFill>
                  <a:srgbClr val="E91E8C"/>
                </a:solidFill>
              </a:rPr>
              <a:t>4 Qs</a:t>
            </a:r>
            <a:endParaRPr lang="en-US" sz="1760" dirty="0"/>
          </a:p>
        </p:txBody>
      </p:sp>
      <p:sp>
        <p:nvSpPr>
          <p:cNvPr id="33" name="Text 31"/>
          <p:cNvSpPr/>
          <p:nvPr/>
        </p:nvSpPr>
        <p:spPr>
          <a:xfrm>
            <a:off x="9582912" y="307238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40" dirty="0"/>
          </a:p>
        </p:txBody>
      </p:sp>
      <p:sp>
        <p:nvSpPr>
          <p:cNvPr id="34" name="Shape 32"/>
          <p:cNvSpPr/>
          <p:nvPr/>
        </p:nvSpPr>
        <p:spPr>
          <a:xfrm>
            <a:off x="8778240" y="3569818"/>
            <a:ext cx="5413248" cy="81930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778240" y="3569818"/>
            <a:ext cx="658368" cy="819302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36" name="Text 34"/>
          <p:cNvSpPr/>
          <p:nvPr/>
        </p:nvSpPr>
        <p:spPr>
          <a:xfrm>
            <a:off x="8778240" y="3569818"/>
            <a:ext cx="658368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40" b="1" dirty="0">
                <a:solidFill>
                  <a:srgbClr val="FFFFFF"/>
                </a:solidFill>
              </a:rPr>
              <a:t>C</a:t>
            </a:r>
            <a:endParaRPr lang="en-US" sz="2240" dirty="0"/>
          </a:p>
        </p:txBody>
      </p:sp>
      <p:sp>
        <p:nvSpPr>
          <p:cNvPr id="37" name="Text 35"/>
          <p:cNvSpPr/>
          <p:nvPr/>
        </p:nvSpPr>
        <p:spPr>
          <a:xfrm>
            <a:off x="9582912" y="3642970"/>
            <a:ext cx="336499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60" b="1" dirty="0">
                <a:solidFill>
                  <a:srgbClr val="1E293B"/>
                </a:solidFill>
              </a:rPr>
              <a:t>Influencer Exposure</a:t>
            </a:r>
            <a:endParaRPr lang="en-US" sz="1760" dirty="0"/>
          </a:p>
        </p:txBody>
      </p:sp>
      <p:sp>
        <p:nvSpPr>
          <p:cNvPr id="38" name="Text 36"/>
          <p:cNvSpPr/>
          <p:nvPr/>
        </p:nvSpPr>
        <p:spPr>
          <a:xfrm>
            <a:off x="13167360" y="3642970"/>
            <a:ext cx="95097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760" b="1" dirty="0">
                <a:solidFill>
                  <a:srgbClr val="6C3483"/>
                </a:solidFill>
              </a:rPr>
              <a:t>4 Qs</a:t>
            </a:r>
            <a:endParaRPr lang="en-US" sz="1760" dirty="0"/>
          </a:p>
        </p:txBody>
      </p:sp>
      <p:sp>
        <p:nvSpPr>
          <p:cNvPr id="39" name="Text 37"/>
          <p:cNvSpPr/>
          <p:nvPr/>
        </p:nvSpPr>
        <p:spPr>
          <a:xfrm>
            <a:off x="9582912" y="403799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40" dirty="0"/>
          </a:p>
        </p:txBody>
      </p:sp>
      <p:sp>
        <p:nvSpPr>
          <p:cNvPr id="40" name="Shape 38"/>
          <p:cNvSpPr/>
          <p:nvPr/>
        </p:nvSpPr>
        <p:spPr>
          <a:xfrm>
            <a:off x="8778240" y="4535424"/>
            <a:ext cx="5413248" cy="81930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778240" y="4535424"/>
            <a:ext cx="658368" cy="819302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42" name="Text 40"/>
          <p:cNvSpPr/>
          <p:nvPr/>
        </p:nvSpPr>
        <p:spPr>
          <a:xfrm>
            <a:off x="8778240" y="4535424"/>
            <a:ext cx="658368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40" b="1" dirty="0">
                <a:solidFill>
                  <a:srgbClr val="FFFFFF"/>
                </a:solidFill>
              </a:rPr>
              <a:t>D</a:t>
            </a:r>
            <a:endParaRPr lang="en-US" sz="2240" dirty="0"/>
          </a:p>
        </p:txBody>
      </p:sp>
      <p:sp>
        <p:nvSpPr>
          <p:cNvPr id="43" name="Text 41"/>
          <p:cNvSpPr/>
          <p:nvPr/>
        </p:nvSpPr>
        <p:spPr>
          <a:xfrm>
            <a:off x="9582912" y="4608576"/>
            <a:ext cx="336499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60" b="1" dirty="0">
                <a:solidFill>
                  <a:srgbClr val="1E293B"/>
                </a:solidFill>
              </a:rPr>
              <a:t>Purchase Behavior</a:t>
            </a:r>
            <a:endParaRPr lang="en-US" sz="1760" dirty="0"/>
          </a:p>
        </p:txBody>
      </p:sp>
      <p:sp>
        <p:nvSpPr>
          <p:cNvPr id="44" name="Text 42"/>
          <p:cNvSpPr/>
          <p:nvPr/>
        </p:nvSpPr>
        <p:spPr>
          <a:xfrm>
            <a:off x="13167360" y="4608576"/>
            <a:ext cx="95097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760" b="1" dirty="0">
                <a:solidFill>
                  <a:srgbClr val="E91E8C"/>
                </a:solidFill>
              </a:rPr>
              <a:t>4 Qs</a:t>
            </a:r>
            <a:endParaRPr lang="en-US" sz="1760" dirty="0"/>
          </a:p>
        </p:txBody>
      </p:sp>
      <p:sp>
        <p:nvSpPr>
          <p:cNvPr id="45" name="Text 43"/>
          <p:cNvSpPr/>
          <p:nvPr/>
        </p:nvSpPr>
        <p:spPr>
          <a:xfrm>
            <a:off x="9582912" y="5003597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40" dirty="0"/>
          </a:p>
        </p:txBody>
      </p:sp>
      <p:sp>
        <p:nvSpPr>
          <p:cNvPr id="46" name="Shape 44"/>
          <p:cNvSpPr/>
          <p:nvPr/>
        </p:nvSpPr>
        <p:spPr>
          <a:xfrm>
            <a:off x="8778240" y="5501031"/>
            <a:ext cx="5413248" cy="81930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778240" y="5501031"/>
            <a:ext cx="658368" cy="819302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48" name="Text 46"/>
          <p:cNvSpPr/>
          <p:nvPr/>
        </p:nvSpPr>
        <p:spPr>
          <a:xfrm>
            <a:off x="8778240" y="5501031"/>
            <a:ext cx="658368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40" b="1" dirty="0">
                <a:solidFill>
                  <a:srgbClr val="FFFFFF"/>
                </a:solidFill>
              </a:rPr>
              <a:t>E</a:t>
            </a:r>
            <a:endParaRPr lang="en-US" sz="2240" dirty="0"/>
          </a:p>
        </p:txBody>
      </p:sp>
      <p:sp>
        <p:nvSpPr>
          <p:cNvPr id="49" name="Text 47"/>
          <p:cNvSpPr/>
          <p:nvPr/>
        </p:nvSpPr>
        <p:spPr>
          <a:xfrm>
            <a:off x="9582912" y="5574183"/>
            <a:ext cx="336499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60" b="1" dirty="0">
                <a:solidFill>
                  <a:srgbClr val="1E293B"/>
                </a:solidFill>
              </a:rPr>
              <a:t>Likert Scale (1–5)</a:t>
            </a:r>
            <a:endParaRPr lang="en-US" sz="1760" dirty="0"/>
          </a:p>
        </p:txBody>
      </p:sp>
      <p:sp>
        <p:nvSpPr>
          <p:cNvPr id="50" name="Text 48"/>
          <p:cNvSpPr/>
          <p:nvPr/>
        </p:nvSpPr>
        <p:spPr>
          <a:xfrm>
            <a:off x="13167360" y="5574183"/>
            <a:ext cx="95097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760" b="1" dirty="0">
                <a:solidFill>
                  <a:srgbClr val="6C3483"/>
                </a:solidFill>
              </a:rPr>
              <a:t>17 Qs</a:t>
            </a:r>
            <a:endParaRPr lang="en-US" sz="1760" dirty="0"/>
          </a:p>
        </p:txBody>
      </p:sp>
      <p:sp>
        <p:nvSpPr>
          <p:cNvPr id="51" name="Text 49"/>
          <p:cNvSpPr/>
          <p:nvPr/>
        </p:nvSpPr>
        <p:spPr>
          <a:xfrm>
            <a:off x="9582912" y="5969203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40" dirty="0"/>
          </a:p>
        </p:txBody>
      </p:sp>
      <p:sp>
        <p:nvSpPr>
          <p:cNvPr id="52" name="Shape 50"/>
          <p:cNvSpPr/>
          <p:nvPr/>
        </p:nvSpPr>
        <p:spPr>
          <a:xfrm>
            <a:off x="8778240" y="6398748"/>
            <a:ext cx="5413248" cy="555955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53" name="Text 51"/>
          <p:cNvSpPr/>
          <p:nvPr/>
        </p:nvSpPr>
        <p:spPr>
          <a:xfrm>
            <a:off x="8851392" y="6409022"/>
            <a:ext cx="5266944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60" b="1" dirty="0">
                <a:solidFill>
                  <a:srgbClr val="FFFFFF"/>
                </a:solidFill>
              </a:rPr>
              <a:t>ANALYSIS TOOLS</a:t>
            </a:r>
            <a:endParaRPr lang="en-US" sz="1760" dirty="0"/>
          </a:p>
        </p:txBody>
      </p:sp>
      <p:sp>
        <p:nvSpPr>
          <p:cNvPr id="54" name="Text 52"/>
          <p:cNvSpPr/>
          <p:nvPr/>
        </p:nvSpPr>
        <p:spPr>
          <a:xfrm>
            <a:off x="8851392" y="6964650"/>
            <a:ext cx="5266944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80" b="1" dirty="0">
                <a:solidFill>
                  <a:srgbClr val="E91E8C"/>
                </a:solidFill>
              </a:rPr>
              <a:t>✔  </a:t>
            </a:r>
            <a:r>
              <a:rPr lang="en-US" sz="1680" dirty="0">
                <a:solidFill>
                  <a:srgbClr val="1E293B"/>
                </a:solidFill>
              </a:rPr>
              <a:t>Google Forms  →  Data Collection</a:t>
            </a:r>
            <a:endParaRPr lang="en-US" sz="1680" dirty="0"/>
          </a:p>
        </p:txBody>
      </p:sp>
      <p:sp>
        <p:nvSpPr>
          <p:cNvPr id="56" name="Text 54"/>
          <p:cNvSpPr/>
          <p:nvPr/>
        </p:nvSpPr>
        <p:spPr>
          <a:xfrm>
            <a:off x="8851392" y="7302634"/>
            <a:ext cx="5266944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80" b="1" dirty="0">
                <a:solidFill>
                  <a:srgbClr val="E91E8C"/>
                </a:solidFill>
              </a:rPr>
              <a:t>✔  </a:t>
            </a:r>
            <a:r>
              <a:rPr lang="en-US" sz="1680" dirty="0">
                <a:solidFill>
                  <a:srgbClr val="1E293B"/>
                </a:solidFill>
              </a:rPr>
              <a:t>Python   →  Statistical Analysis</a:t>
            </a:r>
            <a:endParaRPr lang="en-US" sz="1680" dirty="0"/>
          </a:p>
        </p:txBody>
      </p:sp>
    </p:spTree>
    <p:extLst>
      <p:ext uri="{BB962C8B-B14F-4D97-AF65-F5344CB8AC3E}">
        <p14:creationId xmlns:p14="http://schemas.microsoft.com/office/powerpoint/2010/main" val="499702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2435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0"/>
            <a:ext cx="13459968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520" b="1" dirty="0">
                <a:solidFill>
                  <a:srgbClr val="FFFFFF"/>
                </a:solidFill>
              </a:rPr>
              <a:t>Who Responded? — Sample Profile (n = 200)</a:t>
            </a:r>
            <a:endParaRPr lang="en-US" sz="3520" dirty="0"/>
          </a:p>
        </p:txBody>
      </p:sp>
      <p:sp>
        <p:nvSpPr>
          <p:cNvPr id="5" name="Text 3"/>
          <p:cNvSpPr/>
          <p:nvPr/>
        </p:nvSpPr>
        <p:spPr>
          <a:xfrm>
            <a:off x="11996928" y="321869"/>
            <a:ext cx="234086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40" dirty="0"/>
          </a:p>
        </p:txBody>
      </p:sp>
      <p:pic>
        <p:nvPicPr>
          <p:cNvPr id="6" name="Image 0" descr="/home/claude/fig1_demograph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345997"/>
            <a:ext cx="14045184" cy="66568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8912" y="7798003"/>
            <a:ext cx="13752576" cy="380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40" dirty="0"/>
          </a:p>
        </p:txBody>
      </p:sp>
    </p:spTree>
    <p:extLst>
      <p:ext uri="{BB962C8B-B14F-4D97-AF65-F5344CB8AC3E}">
        <p14:creationId xmlns:p14="http://schemas.microsoft.com/office/powerpoint/2010/main" val="2849400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"/>
            <a:ext cx="14630400" cy="12435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0"/>
            <a:ext cx="13459968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520" b="1" dirty="0">
                <a:solidFill>
                  <a:srgbClr val="FFFFFF"/>
                </a:solidFill>
              </a:rPr>
              <a:t>Multiple Linear Regression — What &amp; Why</a:t>
            </a:r>
            <a:endParaRPr lang="en-US" sz="3520" dirty="0"/>
          </a:p>
        </p:txBody>
      </p:sp>
      <p:sp>
        <p:nvSpPr>
          <p:cNvPr id="6" name="Shape 4"/>
          <p:cNvSpPr/>
          <p:nvPr/>
        </p:nvSpPr>
        <p:spPr>
          <a:xfrm>
            <a:off x="438912" y="1463040"/>
            <a:ext cx="6291072" cy="2487168"/>
          </a:xfrm>
          <a:prstGeom prst="rect">
            <a:avLst/>
          </a:prstGeom>
          <a:solidFill>
            <a:srgbClr val="F4F6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609344"/>
            <a:ext cx="5705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80" b="1" dirty="0">
                <a:solidFill>
                  <a:srgbClr val="0F172A"/>
                </a:solidFill>
              </a:rPr>
              <a:t>What does Regression tell us?</a:t>
            </a:r>
            <a:endParaRPr lang="en-US" sz="208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570585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64748B"/>
                </a:solidFill>
              </a:rPr>
              <a:t>It tells us which social media factors actually predict buying behaviour — and by how much.</a:t>
            </a:r>
            <a:endParaRPr lang="en-US" dirty="0"/>
          </a:p>
          <a:p>
            <a:pPr>
              <a:lnSpc>
                <a:spcPct val="130000"/>
              </a:lnSpc>
            </a:pPr>
            <a:endParaRPr lang="en-US" dirty="0"/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64748B"/>
                </a:solidFill>
              </a:rPr>
              <a:t>Think: which button, when pressed, actually moves the needle on purchases?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38912" y="4023361"/>
            <a:ext cx="6291072" cy="3579516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4272077"/>
            <a:ext cx="5705856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20" b="1" dirty="0">
                <a:solidFill>
                  <a:srgbClr val="FFFFFF"/>
                </a:solidFill>
              </a:rPr>
              <a:t>How to Read the Results</a:t>
            </a:r>
            <a:endParaRPr lang="en-US" sz="1920" dirty="0"/>
          </a:p>
        </p:txBody>
      </p:sp>
      <p:sp>
        <p:nvSpPr>
          <p:cNvPr id="11" name="Text 9"/>
          <p:cNvSpPr/>
          <p:nvPr/>
        </p:nvSpPr>
        <p:spPr>
          <a:xfrm>
            <a:off x="731520" y="4828032"/>
            <a:ext cx="1609344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91E8C"/>
                </a:solidFill>
              </a:rPr>
              <a:t>R²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14016" y="4828032"/>
            <a:ext cx="3950208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dirty="0">
                <a:solidFill>
                  <a:srgbClr val="CBD5E1"/>
                </a:solidFill>
              </a:rPr>
              <a:t>How much buying behaviour the model explains</a:t>
            </a:r>
            <a:endParaRPr lang="en-US" sz="1520" dirty="0"/>
          </a:p>
        </p:txBody>
      </p:sp>
      <p:sp>
        <p:nvSpPr>
          <p:cNvPr id="13" name="Text 11"/>
          <p:cNvSpPr/>
          <p:nvPr/>
        </p:nvSpPr>
        <p:spPr>
          <a:xfrm>
            <a:off x="731520" y="5369357"/>
            <a:ext cx="1609344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91E8C"/>
                </a:solidFill>
              </a:rPr>
              <a:t>β (Beta)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14016" y="5369357"/>
            <a:ext cx="3950208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dirty="0">
                <a:solidFill>
                  <a:srgbClr val="CBD5E1"/>
                </a:solidFill>
              </a:rPr>
              <a:t>Direction &amp; strength of each factor's effect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731520" y="5910682"/>
            <a:ext cx="1609344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91E8C"/>
                </a:solidFill>
              </a:rPr>
              <a:t>p-value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14016" y="5910682"/>
            <a:ext cx="3950208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dirty="0">
                <a:solidFill>
                  <a:srgbClr val="CBD5E1"/>
                </a:solidFill>
              </a:rPr>
              <a:t>Is the effect real or just random chance?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731520" y="6452006"/>
            <a:ext cx="1609344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91E8C"/>
                </a:solidFill>
              </a:rPr>
              <a:t>p &lt; 0.05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14016" y="6452006"/>
            <a:ext cx="3950208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dirty="0">
                <a:solidFill>
                  <a:srgbClr val="CBD5E1"/>
                </a:solidFill>
              </a:rPr>
              <a:t>✅ Effect is statistically significant (real)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731520" y="6993331"/>
            <a:ext cx="1609344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91E8C"/>
                </a:solidFill>
              </a:rPr>
              <a:t>p ≥ 0.05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414016" y="6993331"/>
            <a:ext cx="3950208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dirty="0">
                <a:solidFill>
                  <a:srgbClr val="CBD5E1"/>
                </a:solidFill>
              </a:rPr>
              <a:t>❌ Effect is not significant (not proven)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7168896" y="1463040"/>
            <a:ext cx="7022592" cy="6320333"/>
          </a:xfrm>
          <a:prstGeom prst="rect">
            <a:avLst/>
          </a:prstGeom>
          <a:solidFill>
            <a:srgbClr val="F4F6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61504" y="1609344"/>
            <a:ext cx="6437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80" b="1" dirty="0">
                <a:solidFill>
                  <a:srgbClr val="0F172A"/>
                </a:solidFill>
              </a:rPr>
              <a:t>We tested TWO Dependent Variables</a:t>
            </a:r>
            <a:endParaRPr lang="en-US" sz="2080" dirty="0"/>
          </a:p>
        </p:txBody>
      </p:sp>
      <p:sp>
        <p:nvSpPr>
          <p:cNvPr id="23" name="Shape 21"/>
          <p:cNvSpPr/>
          <p:nvPr/>
        </p:nvSpPr>
        <p:spPr>
          <a:xfrm>
            <a:off x="7461504" y="2267712"/>
            <a:ext cx="6291072" cy="2414016"/>
          </a:xfrm>
          <a:prstGeom prst="rect">
            <a:avLst/>
          </a:prstGeom>
          <a:solidFill>
            <a:srgbClr val="E91E8C">
              <a:alpha val="12000"/>
            </a:srgbClr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61504" y="2267712"/>
            <a:ext cx="6291072" cy="87782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25" name="Text 23"/>
          <p:cNvSpPr/>
          <p:nvPr/>
        </p:nvSpPr>
        <p:spPr>
          <a:xfrm>
            <a:off x="7607808" y="2457907"/>
            <a:ext cx="5998464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20" b="1" dirty="0">
                <a:solidFill>
                  <a:srgbClr val="E91E8C"/>
                </a:solidFill>
              </a:rPr>
              <a:t>DV 1 — Purchase Intention (O1)</a:t>
            </a:r>
            <a:endParaRPr lang="en-US" sz="1920" dirty="0"/>
          </a:p>
        </p:txBody>
      </p:sp>
      <p:sp>
        <p:nvSpPr>
          <p:cNvPr id="26" name="Text 24"/>
          <p:cNvSpPr/>
          <p:nvPr/>
        </p:nvSpPr>
        <p:spPr>
          <a:xfrm>
            <a:off x="7607808" y="2999232"/>
            <a:ext cx="58521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64748B"/>
                </a:solidFill>
              </a:rPr>
              <a:t>How likely is the student to intentionally buy a product they saw on social media?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7461504" y="4901184"/>
            <a:ext cx="6291072" cy="2414016"/>
          </a:xfrm>
          <a:prstGeom prst="rect">
            <a:avLst/>
          </a:prstGeom>
          <a:solidFill>
            <a:srgbClr val="6C3483">
              <a:alpha val="12000"/>
            </a:srgbClr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61504" y="4901184"/>
            <a:ext cx="6291072" cy="87782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9" name="Text 27"/>
          <p:cNvSpPr/>
          <p:nvPr/>
        </p:nvSpPr>
        <p:spPr>
          <a:xfrm>
            <a:off x="7607808" y="5091379"/>
            <a:ext cx="5998464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20" b="1" dirty="0">
                <a:solidFill>
                  <a:srgbClr val="6C3483"/>
                </a:solidFill>
              </a:rPr>
              <a:t>DV 2 — Impulse Buying (O2)</a:t>
            </a:r>
            <a:endParaRPr lang="en-US" sz="1920" dirty="0"/>
          </a:p>
        </p:txBody>
      </p:sp>
      <p:sp>
        <p:nvSpPr>
          <p:cNvPr id="30" name="Text 28"/>
          <p:cNvSpPr/>
          <p:nvPr/>
        </p:nvSpPr>
        <p:spPr>
          <a:xfrm>
            <a:off x="7607808" y="5632704"/>
            <a:ext cx="58521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64748B"/>
                </a:solidFill>
              </a:rPr>
              <a:t>How likely is the student to buy something unplanned — just because they saw it on social media?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49186" y="7760609"/>
            <a:ext cx="4242816" cy="468173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3" name="Text 31"/>
          <p:cNvSpPr/>
          <p:nvPr/>
        </p:nvSpPr>
        <p:spPr>
          <a:xfrm>
            <a:off x="438912" y="7534657"/>
            <a:ext cx="424281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H1: Influencer Trust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120640" y="7822253"/>
            <a:ext cx="4242816" cy="468173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120640" y="7705291"/>
            <a:ext cx="4242816" cy="780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H2: Social Proof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802368" y="7832527"/>
            <a:ext cx="4242816" cy="468173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802368" y="7705291"/>
            <a:ext cx="4242816" cy="780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H3: SM Attitude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80679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243584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0"/>
            <a:ext cx="13459968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</a:rPr>
              <a:t>Regression 1 — What Drives Purchase Intention? (O1)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996928" y="321869"/>
            <a:ext cx="234086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438912" y="1463040"/>
            <a:ext cx="4242816" cy="19751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" y="1463040"/>
            <a:ext cx="4242816" cy="87782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638606"/>
            <a:ext cx="4242816" cy="1027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80" b="1" dirty="0">
                <a:solidFill>
                  <a:srgbClr val="E91E8C"/>
                </a:solidFill>
              </a:rPr>
              <a:t>R² = 0.077</a:t>
            </a:r>
            <a:endParaRPr lang="en-US" sz="4480" dirty="0"/>
          </a:p>
        </p:txBody>
      </p:sp>
      <p:sp>
        <p:nvSpPr>
          <p:cNvPr id="9" name="Text 7"/>
          <p:cNvSpPr/>
          <p:nvPr/>
        </p:nvSpPr>
        <p:spPr>
          <a:xfrm>
            <a:off x="438912" y="2608601"/>
            <a:ext cx="4242816" cy="75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dirty="0">
                <a:solidFill>
                  <a:srgbClr val="64748B"/>
                </a:solidFill>
              </a:rPr>
              <a:t>Model explains 7.7%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64748B"/>
                </a:solidFill>
              </a:rPr>
              <a:t>of Purchase Intention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20640" y="1463040"/>
            <a:ext cx="4242816" cy="19751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120640" y="1463040"/>
            <a:ext cx="4242816" cy="8778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638606"/>
            <a:ext cx="4242816" cy="1027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80" b="1" dirty="0">
                <a:solidFill>
                  <a:srgbClr val="16A34A"/>
                </a:solidFill>
              </a:rPr>
              <a:t>F p = 0.005</a:t>
            </a:r>
            <a:endParaRPr lang="en-US" sz="4480" dirty="0"/>
          </a:p>
        </p:txBody>
      </p:sp>
      <p:sp>
        <p:nvSpPr>
          <p:cNvPr id="13" name="Text 11"/>
          <p:cNvSpPr/>
          <p:nvPr/>
        </p:nvSpPr>
        <p:spPr>
          <a:xfrm>
            <a:off x="5120640" y="2608601"/>
            <a:ext cx="4242816" cy="75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dirty="0">
                <a:solidFill>
                  <a:srgbClr val="64748B"/>
                </a:solidFill>
              </a:rPr>
              <a:t>Overall model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64748B"/>
                </a:solidFill>
              </a:rPr>
              <a:t>is significant ✅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802368" y="1463040"/>
            <a:ext cx="4242816" cy="19751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802368" y="1463040"/>
            <a:ext cx="4242816" cy="8778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9802368" y="1638606"/>
            <a:ext cx="4242816" cy="1027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80" b="1" dirty="0">
                <a:solidFill>
                  <a:srgbClr val="0F172A"/>
                </a:solidFill>
              </a:rPr>
              <a:t>n = 200</a:t>
            </a:r>
            <a:endParaRPr lang="en-US" sz="4480" dirty="0"/>
          </a:p>
        </p:txBody>
      </p:sp>
      <p:sp>
        <p:nvSpPr>
          <p:cNvPr id="17" name="Text 15"/>
          <p:cNvSpPr/>
          <p:nvPr/>
        </p:nvSpPr>
        <p:spPr>
          <a:xfrm>
            <a:off x="9802368" y="2608601"/>
            <a:ext cx="4242816" cy="75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dirty="0">
                <a:solidFill>
                  <a:srgbClr val="64748B"/>
                </a:solidFill>
              </a:rPr>
              <a:t>Respondents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64748B"/>
                </a:solidFill>
              </a:rPr>
              <a:t>analysed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8912" y="3686861"/>
            <a:ext cx="13752576" cy="4681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80" b="1" dirty="0">
                <a:solidFill>
                  <a:srgbClr val="0F172A"/>
                </a:solidFill>
              </a:rPr>
              <a:t>Hypothesis Results — Purchase Intention</a:t>
            </a:r>
            <a:endParaRPr lang="en-US" sz="2080" dirty="0"/>
          </a:p>
        </p:txBody>
      </p:sp>
      <p:sp>
        <p:nvSpPr>
          <p:cNvPr id="19" name="Shape 17"/>
          <p:cNvSpPr/>
          <p:nvPr/>
        </p:nvSpPr>
        <p:spPr>
          <a:xfrm>
            <a:off x="438912" y="4213555"/>
            <a:ext cx="12874752" cy="468173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614477" y="4213555"/>
            <a:ext cx="804672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b="1" dirty="0">
                <a:solidFill>
                  <a:srgbClr val="FFFFFF"/>
                </a:solidFill>
              </a:rPr>
              <a:t>Hyp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1492301" y="4213555"/>
            <a:ext cx="6729984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b="1" dirty="0">
                <a:solidFill>
                  <a:srgbClr val="FFFFFF"/>
                </a:solidFill>
              </a:rPr>
              <a:t>Factor → Purchase Intention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7900416" y="4213555"/>
            <a:ext cx="1609344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b="1" dirty="0">
                <a:solidFill>
                  <a:srgbClr val="FFFFFF"/>
                </a:solidFill>
              </a:rPr>
              <a:t>Beta (β)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9582912" y="4213555"/>
            <a:ext cx="1463040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b="1" dirty="0">
                <a:solidFill>
                  <a:srgbClr val="FFFFFF"/>
                </a:solidFill>
              </a:rPr>
              <a:t>p-value</a:t>
            </a:r>
            <a:endParaRPr lang="en-US" sz="1520" dirty="0"/>
          </a:p>
        </p:txBody>
      </p:sp>
      <p:sp>
        <p:nvSpPr>
          <p:cNvPr id="24" name="Text 22"/>
          <p:cNvSpPr/>
          <p:nvPr/>
        </p:nvSpPr>
        <p:spPr>
          <a:xfrm>
            <a:off x="11119104" y="4213555"/>
            <a:ext cx="1682496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b="1" dirty="0">
                <a:solidFill>
                  <a:srgbClr val="FFFFFF"/>
                </a:solidFill>
              </a:rPr>
              <a:t>Result</a:t>
            </a:r>
            <a:endParaRPr lang="en-US" sz="1520" dirty="0"/>
          </a:p>
        </p:txBody>
      </p:sp>
      <p:sp>
        <p:nvSpPr>
          <p:cNvPr id="25" name="Shape 23"/>
          <p:cNvSpPr/>
          <p:nvPr/>
        </p:nvSpPr>
        <p:spPr>
          <a:xfrm>
            <a:off x="438912" y="4740249"/>
            <a:ext cx="12874752" cy="64373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7" y="4740249"/>
            <a:ext cx="804672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DC2626"/>
                </a:solidFill>
              </a:rPr>
              <a:t>H1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2301" y="4740249"/>
            <a:ext cx="6729984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F172A"/>
                </a:solidFill>
              </a:rPr>
              <a:t>Influencer Trust → Purchase Intention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39328" y="4740249"/>
            <a:ext cx="1609344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64748B"/>
                </a:solidFill>
              </a:rPr>
              <a:t>β = 0.119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21824" y="4740249"/>
            <a:ext cx="146304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64748B"/>
                </a:solidFill>
              </a:rPr>
              <a:t>p = 0.158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558016" y="4740249"/>
            <a:ext cx="1682496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b="1" dirty="0">
                <a:solidFill>
                  <a:srgbClr val="DC2626"/>
                </a:solidFill>
              </a:rPr>
              <a:t>❌ Not Supported</a:t>
            </a:r>
            <a:endParaRPr lang="en-US" sz="1440" dirty="0"/>
          </a:p>
        </p:txBody>
      </p:sp>
      <p:sp>
        <p:nvSpPr>
          <p:cNvPr id="31" name="Shape 29"/>
          <p:cNvSpPr/>
          <p:nvPr/>
        </p:nvSpPr>
        <p:spPr>
          <a:xfrm>
            <a:off x="438912" y="5471769"/>
            <a:ext cx="12874752" cy="643738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477" y="5471769"/>
            <a:ext cx="804672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6A34A"/>
                </a:solidFill>
              </a:rPr>
              <a:t>H2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92301" y="5471769"/>
            <a:ext cx="6729984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F172A"/>
                </a:solidFill>
              </a:rPr>
              <a:t>Social Proof → Purchase Intention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39328" y="5471769"/>
            <a:ext cx="1609344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64748B"/>
                </a:solidFill>
              </a:rPr>
              <a:t>β = 0.219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021824" y="5471769"/>
            <a:ext cx="146304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64748B"/>
                </a:solidFill>
              </a:rPr>
              <a:t>p = 0.012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558016" y="5471769"/>
            <a:ext cx="1682496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b="1" dirty="0">
                <a:solidFill>
                  <a:srgbClr val="16A34A"/>
                </a:solidFill>
              </a:rPr>
              <a:t>✅ SUPPORTED</a:t>
            </a:r>
            <a:endParaRPr lang="en-US" sz="1440" dirty="0"/>
          </a:p>
        </p:txBody>
      </p:sp>
      <p:sp>
        <p:nvSpPr>
          <p:cNvPr id="37" name="Shape 35"/>
          <p:cNvSpPr/>
          <p:nvPr/>
        </p:nvSpPr>
        <p:spPr>
          <a:xfrm>
            <a:off x="438912" y="6203289"/>
            <a:ext cx="12874752" cy="64373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4477" y="6203289"/>
            <a:ext cx="804672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DC2626"/>
                </a:solidFill>
              </a:rPr>
              <a:t>H3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492301" y="6203289"/>
            <a:ext cx="6729984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F172A"/>
                </a:solidFill>
              </a:rPr>
              <a:t>SM Attitude → Purchase Intention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39328" y="6203289"/>
            <a:ext cx="1609344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64748B"/>
                </a:solidFill>
              </a:rPr>
              <a:t>β = 0.087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021824" y="6203289"/>
            <a:ext cx="146304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64748B"/>
                </a:solidFill>
              </a:rPr>
              <a:t>p = 0.265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558016" y="6203289"/>
            <a:ext cx="1682496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b="1" dirty="0">
                <a:solidFill>
                  <a:srgbClr val="DC2626"/>
                </a:solidFill>
              </a:rPr>
              <a:t>❌ Not Supported</a:t>
            </a:r>
            <a:endParaRPr lang="en-US" sz="1440" dirty="0"/>
          </a:p>
        </p:txBody>
      </p:sp>
      <p:sp>
        <p:nvSpPr>
          <p:cNvPr id="43" name="Shape 41"/>
          <p:cNvSpPr/>
          <p:nvPr/>
        </p:nvSpPr>
        <p:spPr>
          <a:xfrm>
            <a:off x="438912" y="7388352"/>
            <a:ext cx="13752576" cy="555955"/>
          </a:xfrm>
          <a:prstGeom prst="rect">
            <a:avLst/>
          </a:prstGeom>
          <a:solidFill>
            <a:srgbClr val="FDF2F8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" y="7417613"/>
            <a:ext cx="13313664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dirty="0">
                <a:solidFill>
                  <a:srgbClr val="E91E8C"/>
                </a:solidFill>
              </a:rPr>
              <a:t>💡 Key Finding: Only Social Proof (H2) significantly predicts Purchase Intention. Peer reviews and community reactions are the real purchase drivers — not influencer trust or attitude alone.</a:t>
            </a:r>
            <a:endParaRPr lang="en-US" sz="1520" dirty="0"/>
          </a:p>
        </p:txBody>
      </p:sp>
    </p:spTree>
    <p:extLst>
      <p:ext uri="{BB962C8B-B14F-4D97-AF65-F5344CB8AC3E}">
        <p14:creationId xmlns:p14="http://schemas.microsoft.com/office/powerpoint/2010/main" val="3054438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705"/>
            <a:ext cx="14630400" cy="1243584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0"/>
            <a:ext cx="13459968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</a:rPr>
              <a:t>Regression 2 — What Drives Impulse Buying? (O2)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996928" y="321869"/>
            <a:ext cx="234086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438912" y="1463040"/>
            <a:ext cx="4242816" cy="19751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" y="1463040"/>
            <a:ext cx="4242816" cy="87782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638606"/>
            <a:ext cx="4242816" cy="1027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80" b="1" dirty="0">
                <a:solidFill>
                  <a:srgbClr val="6C3483"/>
                </a:solidFill>
              </a:rPr>
              <a:t>R² = 0.091</a:t>
            </a:r>
            <a:endParaRPr lang="en-US" sz="4480" dirty="0"/>
          </a:p>
        </p:txBody>
      </p:sp>
      <p:sp>
        <p:nvSpPr>
          <p:cNvPr id="9" name="Text 7"/>
          <p:cNvSpPr/>
          <p:nvPr/>
        </p:nvSpPr>
        <p:spPr>
          <a:xfrm>
            <a:off x="438912" y="2608601"/>
            <a:ext cx="4242816" cy="75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dirty="0">
                <a:solidFill>
                  <a:srgbClr val="64748B"/>
                </a:solidFill>
              </a:rPr>
              <a:t>Model explains 9.1%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64748B"/>
                </a:solidFill>
              </a:rPr>
              <a:t>of Impulse Buying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20640" y="1463040"/>
            <a:ext cx="4242816" cy="19751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120640" y="1463040"/>
            <a:ext cx="4242816" cy="8778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638606"/>
            <a:ext cx="4242816" cy="1027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80" b="1" dirty="0">
                <a:solidFill>
                  <a:srgbClr val="16A34A"/>
                </a:solidFill>
              </a:rPr>
              <a:t>F p = 0.001</a:t>
            </a:r>
            <a:endParaRPr lang="en-US" sz="4480" dirty="0"/>
          </a:p>
        </p:txBody>
      </p:sp>
      <p:sp>
        <p:nvSpPr>
          <p:cNvPr id="13" name="Text 11"/>
          <p:cNvSpPr/>
          <p:nvPr/>
        </p:nvSpPr>
        <p:spPr>
          <a:xfrm>
            <a:off x="5120640" y="2608601"/>
            <a:ext cx="4242816" cy="75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dirty="0">
                <a:solidFill>
                  <a:srgbClr val="64748B"/>
                </a:solidFill>
              </a:rPr>
              <a:t>Overall model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64748B"/>
                </a:solidFill>
              </a:rPr>
              <a:t>is significant ✅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802368" y="1463040"/>
            <a:ext cx="4242816" cy="19751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802368" y="1463040"/>
            <a:ext cx="4242816" cy="8778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9802368" y="1638606"/>
            <a:ext cx="4242816" cy="1027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80" b="1" dirty="0">
                <a:solidFill>
                  <a:srgbClr val="0F172A"/>
                </a:solidFill>
              </a:rPr>
              <a:t>n = 200</a:t>
            </a:r>
            <a:endParaRPr lang="en-US" sz="4480" dirty="0"/>
          </a:p>
        </p:txBody>
      </p:sp>
      <p:sp>
        <p:nvSpPr>
          <p:cNvPr id="17" name="Text 15"/>
          <p:cNvSpPr/>
          <p:nvPr/>
        </p:nvSpPr>
        <p:spPr>
          <a:xfrm>
            <a:off x="9802368" y="2608601"/>
            <a:ext cx="4242816" cy="75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dirty="0">
                <a:solidFill>
                  <a:srgbClr val="64748B"/>
                </a:solidFill>
              </a:rPr>
              <a:t>Respondents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64748B"/>
                </a:solidFill>
              </a:rPr>
              <a:t>analysed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8912" y="3686861"/>
            <a:ext cx="13752576" cy="4681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80" b="1" dirty="0">
                <a:solidFill>
                  <a:srgbClr val="0F172A"/>
                </a:solidFill>
              </a:rPr>
              <a:t>Hypothesis Results — Impulse Buying</a:t>
            </a:r>
            <a:endParaRPr lang="en-US" sz="2080" dirty="0"/>
          </a:p>
        </p:txBody>
      </p:sp>
      <p:sp>
        <p:nvSpPr>
          <p:cNvPr id="19" name="Shape 17"/>
          <p:cNvSpPr/>
          <p:nvPr/>
        </p:nvSpPr>
        <p:spPr>
          <a:xfrm>
            <a:off x="438912" y="4213555"/>
            <a:ext cx="12874752" cy="468173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0" name="Text 18"/>
          <p:cNvSpPr/>
          <p:nvPr/>
        </p:nvSpPr>
        <p:spPr>
          <a:xfrm>
            <a:off x="614477" y="4213555"/>
            <a:ext cx="804672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b="1" dirty="0">
                <a:solidFill>
                  <a:srgbClr val="FFFFFF"/>
                </a:solidFill>
              </a:rPr>
              <a:t>Hyp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1492301" y="4213555"/>
            <a:ext cx="6729984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b="1" dirty="0">
                <a:solidFill>
                  <a:srgbClr val="FFFFFF"/>
                </a:solidFill>
              </a:rPr>
              <a:t>Factor → Impulse Buying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7900416" y="4213555"/>
            <a:ext cx="1609344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b="1" dirty="0">
                <a:solidFill>
                  <a:srgbClr val="FFFFFF"/>
                </a:solidFill>
              </a:rPr>
              <a:t>Beta (β)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9582912" y="4213555"/>
            <a:ext cx="1463040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b="1" dirty="0">
                <a:solidFill>
                  <a:srgbClr val="FFFFFF"/>
                </a:solidFill>
              </a:rPr>
              <a:t>p-value</a:t>
            </a:r>
            <a:endParaRPr lang="en-US" sz="1520" dirty="0"/>
          </a:p>
        </p:txBody>
      </p:sp>
      <p:sp>
        <p:nvSpPr>
          <p:cNvPr id="24" name="Text 22"/>
          <p:cNvSpPr/>
          <p:nvPr/>
        </p:nvSpPr>
        <p:spPr>
          <a:xfrm>
            <a:off x="11119104" y="4213555"/>
            <a:ext cx="1682496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b="1" dirty="0">
                <a:solidFill>
                  <a:srgbClr val="FFFFFF"/>
                </a:solidFill>
              </a:rPr>
              <a:t>Result</a:t>
            </a:r>
            <a:endParaRPr lang="en-US" sz="1520" dirty="0"/>
          </a:p>
        </p:txBody>
      </p:sp>
      <p:sp>
        <p:nvSpPr>
          <p:cNvPr id="25" name="Shape 23"/>
          <p:cNvSpPr/>
          <p:nvPr/>
        </p:nvSpPr>
        <p:spPr>
          <a:xfrm>
            <a:off x="438912" y="4740249"/>
            <a:ext cx="12874752" cy="64373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7" y="4740249"/>
            <a:ext cx="804672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DC2626"/>
                </a:solidFill>
              </a:rPr>
              <a:t>H1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2301" y="4740249"/>
            <a:ext cx="6729984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F172A"/>
                </a:solidFill>
              </a:rPr>
              <a:t>Influencer Trust → Impulse Buying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39328" y="4740249"/>
            <a:ext cx="1609344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64748B"/>
                </a:solidFill>
              </a:rPr>
              <a:t>β = 0.153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21824" y="4740249"/>
            <a:ext cx="146304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64748B"/>
                </a:solidFill>
              </a:rPr>
              <a:t>p = 0.090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558016" y="4740249"/>
            <a:ext cx="1682496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b="1" dirty="0">
                <a:solidFill>
                  <a:srgbClr val="DC2626"/>
                </a:solidFill>
              </a:rPr>
              <a:t>❌ Not Supported</a:t>
            </a:r>
            <a:endParaRPr lang="en-US" sz="1440" dirty="0"/>
          </a:p>
        </p:txBody>
      </p:sp>
      <p:sp>
        <p:nvSpPr>
          <p:cNvPr id="31" name="Shape 29"/>
          <p:cNvSpPr/>
          <p:nvPr/>
        </p:nvSpPr>
        <p:spPr>
          <a:xfrm>
            <a:off x="438912" y="5471769"/>
            <a:ext cx="12874752" cy="64373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477" y="5471769"/>
            <a:ext cx="804672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DC2626"/>
                </a:solidFill>
              </a:rPr>
              <a:t>H2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92301" y="5471769"/>
            <a:ext cx="6729984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F172A"/>
                </a:solidFill>
              </a:rPr>
              <a:t>Social Proof → Impulse Buying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39328" y="5471769"/>
            <a:ext cx="1609344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64748B"/>
                </a:solidFill>
              </a:rPr>
              <a:t>β = 0.086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021824" y="5471769"/>
            <a:ext cx="146304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64748B"/>
                </a:solidFill>
              </a:rPr>
              <a:t>p = 0.347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558016" y="5471769"/>
            <a:ext cx="1682496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b="1" dirty="0">
                <a:solidFill>
                  <a:srgbClr val="DC2626"/>
                </a:solidFill>
              </a:rPr>
              <a:t>❌ Not Supported</a:t>
            </a:r>
            <a:endParaRPr lang="en-US" sz="1440" dirty="0"/>
          </a:p>
        </p:txBody>
      </p:sp>
      <p:sp>
        <p:nvSpPr>
          <p:cNvPr id="37" name="Shape 35"/>
          <p:cNvSpPr/>
          <p:nvPr/>
        </p:nvSpPr>
        <p:spPr>
          <a:xfrm>
            <a:off x="438912" y="6203289"/>
            <a:ext cx="12874752" cy="643738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4477" y="6203289"/>
            <a:ext cx="804672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6A34A"/>
                </a:solidFill>
              </a:rPr>
              <a:t>H3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492301" y="6203289"/>
            <a:ext cx="6729984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F172A"/>
                </a:solidFill>
              </a:rPr>
              <a:t>SM Attitude → Impulse Buying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39328" y="6203289"/>
            <a:ext cx="1609344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64748B"/>
                </a:solidFill>
              </a:rPr>
              <a:t>β = 0.250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021824" y="6203289"/>
            <a:ext cx="146304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64748B"/>
                </a:solidFill>
              </a:rPr>
              <a:t>p = 0.003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558016" y="6203289"/>
            <a:ext cx="1682496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b="1" dirty="0">
                <a:solidFill>
                  <a:srgbClr val="16A34A"/>
                </a:solidFill>
              </a:rPr>
              <a:t>✅ SUPPORTED</a:t>
            </a:r>
            <a:endParaRPr lang="en-US" sz="1440" dirty="0"/>
          </a:p>
        </p:txBody>
      </p:sp>
      <p:sp>
        <p:nvSpPr>
          <p:cNvPr id="43" name="Shape 41"/>
          <p:cNvSpPr/>
          <p:nvPr/>
        </p:nvSpPr>
        <p:spPr>
          <a:xfrm>
            <a:off x="438912" y="7388352"/>
            <a:ext cx="13752576" cy="555955"/>
          </a:xfrm>
          <a:prstGeom prst="rect">
            <a:avLst/>
          </a:prstGeom>
          <a:solidFill>
            <a:srgbClr val="F5F3FF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" y="7417613"/>
            <a:ext cx="13313664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dirty="0">
                <a:solidFill>
                  <a:srgbClr val="6C3483"/>
                </a:solidFill>
              </a:rPr>
              <a:t>💡 Key Finding: SM Attitude (H3) significantly predicts Impulse Buying. Students who view social media marketing positively are more likely to buy impulsively.</a:t>
            </a:r>
            <a:endParaRPr lang="en-US" sz="1520" dirty="0"/>
          </a:p>
        </p:txBody>
      </p:sp>
    </p:spTree>
    <p:extLst>
      <p:ext uri="{BB962C8B-B14F-4D97-AF65-F5344CB8AC3E}">
        <p14:creationId xmlns:p14="http://schemas.microsoft.com/office/powerpoint/2010/main" val="1489723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38912"/>
            <a:ext cx="13167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463040"/>
            <a:r>
              <a:rPr lang="en-US" sz="4480" b="1" dirty="0">
                <a:solidFill>
                  <a:srgbClr val="FFFFFF"/>
                </a:solidFill>
                <a:latin typeface="Calibri" panose="020F0502020204030204"/>
              </a:rPr>
              <a:t>The Two-Pathway Finding</a:t>
            </a:r>
            <a:endParaRPr lang="en-US" sz="448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316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463040"/>
            <a:r>
              <a:rPr lang="en-US" sz="2080" dirty="0">
                <a:solidFill>
                  <a:srgbClr val="94A3B8"/>
                </a:solidFill>
                <a:latin typeface="Calibri" panose="020F0502020204030204"/>
              </a:rPr>
              <a:t>Social media influences Indian college students through TWO distinct pathways</a:t>
            </a:r>
            <a:endParaRPr lang="en-US" sz="208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996928" y="409651"/>
            <a:ext cx="234086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463040"/>
            <a:endParaRPr lang="en-US" sz="14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38912" y="2194560"/>
            <a:ext cx="6437376" cy="5120640"/>
          </a:xfrm>
          <a:prstGeom prst="rect">
            <a:avLst/>
          </a:prstGeom>
          <a:solidFill>
            <a:srgbClr val="E91E8C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" y="2194560"/>
            <a:ext cx="6437376" cy="117043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70125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600" b="1" dirty="0">
                <a:solidFill>
                  <a:srgbClr val="FBFCFD"/>
                </a:solidFill>
                <a:latin typeface="Calibri" panose="020F0502020204030204"/>
              </a:rPr>
              <a:t>PATHWAY 1 — H2 Supported</a:t>
            </a:r>
            <a:endParaRPr lang="en-US" sz="1600" dirty="0">
              <a:solidFill>
                <a:srgbClr val="FBFCFD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852928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3200" b="1" dirty="0">
                <a:solidFill>
                  <a:srgbClr val="FFFFFF"/>
                </a:solidFill>
                <a:latin typeface="Calibri" panose="020F0502020204030204"/>
              </a:rPr>
              <a:t>Rational Buying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2194560" cy="760781"/>
          </a:xfrm>
          <a:prstGeom prst="rect">
            <a:avLst/>
          </a:prstGeom>
          <a:solidFill>
            <a:srgbClr val="7030A0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657600"/>
            <a:ext cx="219456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463040"/>
            <a:r>
              <a:rPr lang="en-US" sz="1520" b="1" dirty="0">
                <a:solidFill>
                  <a:srgbClr val="FFFFFF"/>
                </a:solidFill>
                <a:latin typeface="Calibri" panose="020F0502020204030204"/>
              </a:rPr>
              <a:t>Social</a:t>
            </a:r>
            <a:endParaRPr lang="en-US" sz="152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463040"/>
            <a:r>
              <a:rPr lang="en-US" sz="1520" b="1" dirty="0">
                <a:solidFill>
                  <a:srgbClr val="FFFFFF"/>
                </a:solidFill>
                <a:latin typeface="Calibri" panose="020F0502020204030204"/>
              </a:rPr>
              <a:t>Proof (H2)</a:t>
            </a:r>
            <a:endParaRPr lang="en-US" sz="15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072384" y="3774643"/>
            <a:ext cx="585216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463040"/>
            <a:r>
              <a:rPr lang="en-US" sz="2880" dirty="0">
                <a:solidFill>
                  <a:schemeClr val="accent5"/>
                </a:solidFill>
                <a:latin typeface="Calibri" panose="020F0502020204030204"/>
              </a:rPr>
              <a:t>→</a:t>
            </a:r>
          </a:p>
        </p:txBody>
      </p:sp>
      <p:sp>
        <p:nvSpPr>
          <p:cNvPr id="13" name="Shape 11"/>
          <p:cNvSpPr/>
          <p:nvPr/>
        </p:nvSpPr>
        <p:spPr>
          <a:xfrm>
            <a:off x="3730752" y="3657600"/>
            <a:ext cx="2706624" cy="760781"/>
          </a:xfrm>
          <a:prstGeom prst="rect">
            <a:avLst/>
          </a:prstGeom>
          <a:solidFill>
            <a:srgbClr val="7030A0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730752" y="3657600"/>
            <a:ext cx="2706624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463040"/>
            <a:r>
              <a:rPr lang="en-US" sz="1520" b="1" dirty="0">
                <a:solidFill>
                  <a:srgbClr val="FFFFFF"/>
                </a:solidFill>
                <a:latin typeface="Calibri" panose="020F0502020204030204"/>
              </a:rPr>
              <a:t>Purchase</a:t>
            </a:r>
            <a:endParaRPr lang="en-US" sz="152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463040"/>
            <a:r>
              <a:rPr lang="en-US" sz="1520" b="1" dirty="0">
                <a:solidFill>
                  <a:srgbClr val="FFFFFF"/>
                </a:solidFill>
                <a:latin typeface="Calibri" panose="020F0502020204030204"/>
              </a:rPr>
              <a:t>Intention</a:t>
            </a:r>
            <a:endParaRPr lang="en-US" sz="15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4608576"/>
            <a:ext cx="5705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600" b="1" dirty="0">
                <a:solidFill>
                  <a:schemeClr val="bg1"/>
                </a:solidFill>
                <a:latin typeface="Calibri" panose="020F0502020204030204"/>
              </a:rPr>
              <a:t>β = 0.219  |  p = 0.012  </a:t>
            </a:r>
            <a:r>
              <a:rPr lang="en-US" sz="1600" b="1" dirty="0">
                <a:solidFill>
                  <a:srgbClr val="E91E8C"/>
                </a:solidFill>
                <a:latin typeface="Calibri" panose="020F0502020204030204"/>
              </a:rPr>
              <a:t>✅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" y="5149901"/>
            <a:ext cx="570585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>
              <a:lnSpc>
                <a:spcPct val="130000"/>
              </a:lnSpc>
            </a:pPr>
            <a:r>
              <a:rPr lang="en-US" dirty="0">
                <a:solidFill>
                  <a:srgbClr val="E2E8F0"/>
                </a:solidFill>
                <a:latin typeface="Calibri" panose="020F0502020204030204"/>
              </a:rPr>
              <a:t>Peer reviews, community reactions, and social proof from friends drive deliberate purchase decisions.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754112" y="2194560"/>
            <a:ext cx="6437376" cy="5120640"/>
          </a:xfrm>
          <a:prstGeom prst="rect">
            <a:avLst/>
          </a:prstGeom>
          <a:solidFill>
            <a:srgbClr val="6C3483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54112" y="2194560"/>
            <a:ext cx="6437376" cy="117043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2370125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600" b="1" dirty="0">
                <a:solidFill>
                  <a:schemeClr val="bg1"/>
                </a:solidFill>
                <a:latin typeface="Calibri" panose="020F0502020204030204"/>
              </a:rPr>
              <a:t>PATHWAY 2 — H3 Supported</a:t>
            </a:r>
            <a:endParaRPr lang="en-US" sz="1600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046720" y="2852928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3200" b="1" dirty="0">
                <a:solidFill>
                  <a:srgbClr val="FFFFFF"/>
                </a:solidFill>
                <a:latin typeface="Calibri" panose="020F0502020204030204"/>
              </a:rPr>
              <a:t>Impulse Buying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046720" y="3657600"/>
            <a:ext cx="2194560" cy="760781"/>
          </a:xfrm>
          <a:prstGeom prst="rect">
            <a:avLst/>
          </a:prstGeom>
          <a:solidFill>
            <a:srgbClr val="C81D7D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3657600"/>
            <a:ext cx="219456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463040"/>
            <a:r>
              <a:rPr lang="en-US" sz="1520" b="1" dirty="0">
                <a:solidFill>
                  <a:srgbClr val="FFFFFF"/>
                </a:solidFill>
                <a:latin typeface="Calibri" panose="020F0502020204030204"/>
              </a:rPr>
              <a:t>SM</a:t>
            </a:r>
            <a:endParaRPr lang="en-US" sz="152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463040"/>
            <a:r>
              <a:rPr lang="en-US" sz="1520" b="1" dirty="0">
                <a:solidFill>
                  <a:srgbClr val="FFFFFF"/>
                </a:solidFill>
                <a:latin typeface="Calibri" panose="020F0502020204030204"/>
              </a:rPr>
              <a:t>Attitude (H3)</a:t>
            </a:r>
            <a:endParaRPr lang="en-US" sz="15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387584" y="3774643"/>
            <a:ext cx="585216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463040"/>
            <a:r>
              <a:rPr lang="en-US" sz="2880" dirty="0">
                <a:solidFill>
                  <a:srgbClr val="A5B4FC"/>
                </a:solidFill>
                <a:latin typeface="Calibri" panose="020F0502020204030204"/>
              </a:rPr>
              <a:t>→</a:t>
            </a:r>
            <a:endParaRPr lang="en-US" sz="288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1045952" y="3657600"/>
            <a:ext cx="2706624" cy="760781"/>
          </a:xfrm>
          <a:prstGeom prst="rect">
            <a:avLst/>
          </a:prstGeom>
          <a:solidFill>
            <a:srgbClr val="C81D7D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1045952" y="3657600"/>
            <a:ext cx="2706624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463040"/>
            <a:r>
              <a:rPr lang="en-US" sz="1520" b="1" dirty="0">
                <a:solidFill>
                  <a:srgbClr val="FFFFFF"/>
                </a:solidFill>
                <a:latin typeface="Calibri" panose="020F0502020204030204"/>
              </a:rPr>
              <a:t>Impulse</a:t>
            </a:r>
            <a:endParaRPr lang="en-US" sz="152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463040"/>
            <a:r>
              <a:rPr lang="en-US" sz="1520" b="1" dirty="0">
                <a:solidFill>
                  <a:srgbClr val="FFFFFF"/>
                </a:solidFill>
                <a:latin typeface="Calibri" panose="020F0502020204030204"/>
              </a:rPr>
              <a:t>Buying</a:t>
            </a:r>
            <a:endParaRPr lang="en-US" sz="15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046720" y="4608576"/>
            <a:ext cx="5705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600" b="1" dirty="0">
                <a:solidFill>
                  <a:schemeClr val="bg1"/>
                </a:solidFill>
                <a:latin typeface="Calibri" panose="020F0502020204030204"/>
              </a:rPr>
              <a:t>β = 0.250  |  p = 0.003  </a:t>
            </a:r>
            <a:r>
              <a:rPr lang="en-US" sz="1600" b="1" dirty="0">
                <a:solidFill>
                  <a:srgbClr val="A5B4FC"/>
                </a:solidFill>
                <a:latin typeface="Calibri" panose="020F0502020204030204"/>
              </a:rPr>
              <a:t>✅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046720" y="5149901"/>
            <a:ext cx="570585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>
              <a:lnSpc>
                <a:spcPct val="130000"/>
              </a:lnSpc>
            </a:pPr>
            <a:r>
              <a:rPr lang="en-US" dirty="0">
                <a:solidFill>
                  <a:srgbClr val="E2E8F0"/>
                </a:solidFill>
                <a:latin typeface="Calibri" panose="020F0502020204030204"/>
              </a:rPr>
              <a:t>Students who view social media marketing positively are more likely to buy impulsively — without planning.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51433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2435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0"/>
            <a:ext cx="13459968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520" b="1" dirty="0">
                <a:solidFill>
                  <a:srgbClr val="FFFFFF"/>
                </a:solidFill>
              </a:rPr>
              <a:t>K-Means Clustering — What &amp; Why (O3)</a:t>
            </a:r>
            <a:endParaRPr lang="en-US" sz="3520" dirty="0"/>
          </a:p>
        </p:txBody>
      </p:sp>
      <p:sp>
        <p:nvSpPr>
          <p:cNvPr id="5" name="Text 3"/>
          <p:cNvSpPr/>
          <p:nvPr/>
        </p:nvSpPr>
        <p:spPr>
          <a:xfrm>
            <a:off x="11996928" y="321869"/>
            <a:ext cx="234086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438912" y="1463040"/>
            <a:ext cx="6583680" cy="3072384"/>
          </a:xfrm>
          <a:prstGeom prst="rect">
            <a:avLst/>
          </a:prstGeom>
          <a:solidFill>
            <a:srgbClr val="F4F6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609344"/>
            <a:ext cx="5998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20" b="1" dirty="0">
                <a:solidFill>
                  <a:srgbClr val="0F172A"/>
                </a:solidFill>
              </a:rPr>
              <a:t>What does Clustering do? (Objective 3)</a:t>
            </a:r>
            <a:endParaRPr lang="en-US" sz="1920" dirty="0"/>
          </a:p>
        </p:txBody>
      </p:sp>
      <p:sp>
        <p:nvSpPr>
          <p:cNvPr id="8" name="Text 6"/>
          <p:cNvSpPr/>
          <p:nvPr/>
        </p:nvSpPr>
        <p:spPr>
          <a:xfrm>
            <a:off x="731520" y="2223821"/>
            <a:ext cx="5998464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64748B"/>
                </a:solidFill>
              </a:rPr>
              <a:t>It automatically groups 200 respondents into segments based on how similar their scores are.</a:t>
            </a:r>
            <a:endParaRPr lang="en-US" dirty="0"/>
          </a:p>
          <a:p>
            <a:pPr>
              <a:lnSpc>
                <a:spcPct val="130000"/>
              </a:lnSpc>
            </a:pPr>
            <a:endParaRPr lang="en-US" dirty="0"/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64748B"/>
                </a:solidFill>
              </a:rPr>
              <a:t>Each cluster = a different type of social media buyer among Indian college students.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38912" y="4681728"/>
            <a:ext cx="6583680" cy="3101645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4828032"/>
            <a:ext cx="5998464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20" b="1" dirty="0">
                <a:solidFill>
                  <a:srgbClr val="FFFFFF"/>
                </a:solidFill>
              </a:rPr>
              <a:t>How we chose K = 6 clusters</a:t>
            </a:r>
            <a:endParaRPr lang="en-US" sz="1920" dirty="0"/>
          </a:p>
        </p:txBody>
      </p:sp>
      <p:sp>
        <p:nvSpPr>
          <p:cNvPr id="11" name="Shape 9"/>
          <p:cNvSpPr/>
          <p:nvPr/>
        </p:nvSpPr>
        <p:spPr>
          <a:xfrm>
            <a:off x="731520" y="5442509"/>
            <a:ext cx="292608" cy="292608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1171" y="5383987"/>
            <a:ext cx="20482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91E8C"/>
                </a:solidFill>
              </a:rPr>
              <a:t>Elbow Method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47949" y="5383987"/>
            <a:ext cx="351129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dirty="0">
                <a:solidFill>
                  <a:srgbClr val="CBD5E1"/>
                </a:solidFill>
              </a:rPr>
              <a:t>Plot inertia vs K — look for the bend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731520" y="6130138"/>
            <a:ext cx="292608" cy="292608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1171" y="6071616"/>
            <a:ext cx="20482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91E8C"/>
                </a:solidFill>
              </a:rPr>
              <a:t>Silhouette Score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47949" y="6071616"/>
            <a:ext cx="351129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dirty="0">
                <a:solidFill>
                  <a:srgbClr val="CBD5E1"/>
                </a:solidFill>
              </a:rPr>
              <a:t>Measures how well separated clusters are</a:t>
            </a:r>
            <a:endParaRPr lang="en-US" sz="1520" dirty="0"/>
          </a:p>
        </p:txBody>
      </p:sp>
      <p:sp>
        <p:nvSpPr>
          <p:cNvPr id="17" name="Shape 15"/>
          <p:cNvSpPr/>
          <p:nvPr/>
        </p:nvSpPr>
        <p:spPr>
          <a:xfrm>
            <a:off x="731520" y="6817766"/>
            <a:ext cx="292608" cy="292608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1171" y="6759245"/>
            <a:ext cx="20482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91E8C"/>
                </a:solidFill>
              </a:rPr>
              <a:t>Best K = 6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47949" y="6759245"/>
            <a:ext cx="351129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dirty="0">
                <a:solidFill>
                  <a:srgbClr val="CBD5E1"/>
                </a:solidFill>
              </a:rPr>
              <a:t>Gave highest silhouette score of 0.168</a:t>
            </a:r>
            <a:endParaRPr lang="en-US" sz="1520" dirty="0"/>
          </a:p>
        </p:txBody>
      </p:sp>
      <p:sp>
        <p:nvSpPr>
          <p:cNvPr id="20" name="Text 18"/>
          <p:cNvSpPr/>
          <p:nvPr/>
        </p:nvSpPr>
        <p:spPr>
          <a:xfrm>
            <a:off x="7461504" y="1463040"/>
            <a:ext cx="6876288" cy="4681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20" b="1" dirty="0">
                <a:solidFill>
                  <a:srgbClr val="0F172A"/>
                </a:solidFill>
              </a:rPr>
              <a:t>6 Consumer Segments Identified (O3 ✅)</a:t>
            </a:r>
            <a:endParaRPr lang="en-US" sz="1920" dirty="0"/>
          </a:p>
        </p:txBody>
      </p:sp>
      <p:sp>
        <p:nvSpPr>
          <p:cNvPr id="21" name="Shape 19"/>
          <p:cNvSpPr/>
          <p:nvPr/>
        </p:nvSpPr>
        <p:spPr>
          <a:xfrm>
            <a:off x="7461504" y="2077517"/>
            <a:ext cx="3072384" cy="163860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61504" y="2077517"/>
            <a:ext cx="3072384" cy="102413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7461504" y="2223821"/>
            <a:ext cx="307238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20" b="1" dirty="0">
                <a:solidFill>
                  <a:srgbClr val="D97706"/>
                </a:solidFill>
              </a:rPr>
              <a:t>n = 37</a:t>
            </a:r>
            <a:endParaRPr lang="en-US" sz="1920" dirty="0"/>
          </a:p>
        </p:txBody>
      </p:sp>
      <p:sp>
        <p:nvSpPr>
          <p:cNvPr id="24" name="Text 22"/>
          <p:cNvSpPr/>
          <p:nvPr/>
        </p:nvSpPr>
        <p:spPr>
          <a:xfrm>
            <a:off x="7461504" y="2662733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dirty="0">
                <a:solidFill>
                  <a:srgbClr val="0F172A"/>
                </a:solidFill>
              </a:rPr>
              <a:t>Impulse Prone</a:t>
            </a:r>
            <a:endParaRPr lang="en-US" sz="1440" dirty="0"/>
          </a:p>
        </p:txBody>
      </p:sp>
      <p:sp>
        <p:nvSpPr>
          <p:cNvPr id="25" name="Text 23"/>
          <p:cNvSpPr/>
          <p:nvPr/>
        </p:nvSpPr>
        <p:spPr>
          <a:xfrm>
            <a:off x="7461504" y="3189427"/>
            <a:ext cx="307238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60" dirty="0">
                <a:solidFill>
                  <a:srgbClr val="64748B"/>
                </a:solidFill>
              </a:rPr>
              <a:t>PI: 3.05  |  IB: 3.65</a:t>
            </a:r>
            <a:endParaRPr lang="en-US" sz="1360" dirty="0"/>
          </a:p>
        </p:txBody>
      </p:sp>
      <p:sp>
        <p:nvSpPr>
          <p:cNvPr id="26" name="Shape 24"/>
          <p:cNvSpPr/>
          <p:nvPr/>
        </p:nvSpPr>
        <p:spPr>
          <a:xfrm>
            <a:off x="10972800" y="2077517"/>
            <a:ext cx="3072384" cy="163860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972800" y="2077517"/>
            <a:ext cx="3072384" cy="102413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0" y="2223821"/>
            <a:ext cx="307238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20" b="1" dirty="0">
                <a:solidFill>
                  <a:srgbClr val="64748B"/>
                </a:solidFill>
              </a:rPr>
              <a:t>n = 45</a:t>
            </a:r>
            <a:endParaRPr lang="en-US" sz="1920" dirty="0"/>
          </a:p>
        </p:txBody>
      </p:sp>
      <p:sp>
        <p:nvSpPr>
          <p:cNvPr id="29" name="Text 27"/>
          <p:cNvSpPr/>
          <p:nvPr/>
        </p:nvSpPr>
        <p:spPr>
          <a:xfrm>
            <a:off x="10972800" y="2662733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dirty="0">
                <a:solidFill>
                  <a:srgbClr val="0F172A"/>
                </a:solidFill>
              </a:rPr>
              <a:t>Moderate Scrollers</a:t>
            </a:r>
            <a:endParaRPr lang="en-US" sz="1440" dirty="0"/>
          </a:p>
        </p:txBody>
      </p:sp>
      <p:sp>
        <p:nvSpPr>
          <p:cNvPr id="30" name="Text 28"/>
          <p:cNvSpPr/>
          <p:nvPr/>
        </p:nvSpPr>
        <p:spPr>
          <a:xfrm>
            <a:off x="10972800" y="3189427"/>
            <a:ext cx="307238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60" dirty="0">
                <a:solidFill>
                  <a:srgbClr val="64748B"/>
                </a:solidFill>
              </a:rPr>
              <a:t>PI: 2.38  |  IB: 2.39</a:t>
            </a:r>
            <a:endParaRPr lang="en-US" sz="1360" dirty="0"/>
          </a:p>
        </p:txBody>
      </p:sp>
      <p:sp>
        <p:nvSpPr>
          <p:cNvPr id="31" name="Shape 29"/>
          <p:cNvSpPr/>
          <p:nvPr/>
        </p:nvSpPr>
        <p:spPr>
          <a:xfrm>
            <a:off x="7461504" y="3979469"/>
            <a:ext cx="3072384" cy="163860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61504" y="3979469"/>
            <a:ext cx="3072384" cy="102413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3" name="Text 31"/>
          <p:cNvSpPr/>
          <p:nvPr/>
        </p:nvSpPr>
        <p:spPr>
          <a:xfrm>
            <a:off x="7461504" y="4125773"/>
            <a:ext cx="307238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20" b="1" dirty="0">
                <a:solidFill>
                  <a:srgbClr val="E91E8C"/>
                </a:solidFill>
              </a:rPr>
              <a:t>n = 34</a:t>
            </a:r>
            <a:endParaRPr lang="en-US" sz="1920" dirty="0"/>
          </a:p>
        </p:txBody>
      </p:sp>
      <p:sp>
        <p:nvSpPr>
          <p:cNvPr id="34" name="Text 32"/>
          <p:cNvSpPr/>
          <p:nvPr/>
        </p:nvSpPr>
        <p:spPr>
          <a:xfrm>
            <a:off x="7461504" y="4564685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dirty="0">
                <a:solidFill>
                  <a:srgbClr val="0F172A"/>
                </a:solidFill>
              </a:rPr>
              <a:t>High Engagers</a:t>
            </a:r>
            <a:endParaRPr lang="en-US" sz="1440" dirty="0"/>
          </a:p>
        </p:txBody>
      </p:sp>
      <p:sp>
        <p:nvSpPr>
          <p:cNvPr id="35" name="Text 33"/>
          <p:cNvSpPr/>
          <p:nvPr/>
        </p:nvSpPr>
        <p:spPr>
          <a:xfrm>
            <a:off x="7461504" y="5091379"/>
            <a:ext cx="307238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60" dirty="0">
                <a:solidFill>
                  <a:srgbClr val="64748B"/>
                </a:solidFill>
              </a:rPr>
              <a:t>PI: 3.58  |  IB: 3.46</a:t>
            </a:r>
            <a:endParaRPr lang="en-US" sz="1360" dirty="0"/>
          </a:p>
        </p:txBody>
      </p:sp>
      <p:sp>
        <p:nvSpPr>
          <p:cNvPr id="36" name="Shape 34"/>
          <p:cNvSpPr/>
          <p:nvPr/>
        </p:nvSpPr>
        <p:spPr>
          <a:xfrm>
            <a:off x="10972800" y="3979469"/>
            <a:ext cx="3072384" cy="163860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972800" y="3979469"/>
            <a:ext cx="3072384" cy="102413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38" name="Text 36"/>
          <p:cNvSpPr/>
          <p:nvPr/>
        </p:nvSpPr>
        <p:spPr>
          <a:xfrm>
            <a:off x="10972800" y="4125773"/>
            <a:ext cx="307238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20" b="1" dirty="0">
                <a:solidFill>
                  <a:srgbClr val="6C3483"/>
                </a:solidFill>
              </a:rPr>
              <a:t>n = 31</a:t>
            </a:r>
            <a:endParaRPr lang="en-US" sz="1920" dirty="0"/>
          </a:p>
        </p:txBody>
      </p:sp>
      <p:sp>
        <p:nvSpPr>
          <p:cNvPr id="39" name="Text 37"/>
          <p:cNvSpPr/>
          <p:nvPr/>
        </p:nvSpPr>
        <p:spPr>
          <a:xfrm>
            <a:off x="10972800" y="4564685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dirty="0">
                <a:solidFill>
                  <a:srgbClr val="0F172A"/>
                </a:solidFill>
              </a:rPr>
              <a:t>Low Trust Impulsive</a:t>
            </a:r>
            <a:endParaRPr lang="en-US" sz="1440" dirty="0"/>
          </a:p>
        </p:txBody>
      </p:sp>
      <p:sp>
        <p:nvSpPr>
          <p:cNvPr id="40" name="Text 38"/>
          <p:cNvSpPr/>
          <p:nvPr/>
        </p:nvSpPr>
        <p:spPr>
          <a:xfrm>
            <a:off x="10972800" y="5091379"/>
            <a:ext cx="307238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60" dirty="0">
                <a:solidFill>
                  <a:srgbClr val="64748B"/>
                </a:solidFill>
              </a:rPr>
              <a:t>PI: 2.64  |  IB: 3.52</a:t>
            </a:r>
            <a:endParaRPr lang="en-US" sz="1360" dirty="0"/>
          </a:p>
        </p:txBody>
      </p:sp>
      <p:sp>
        <p:nvSpPr>
          <p:cNvPr id="41" name="Shape 39"/>
          <p:cNvSpPr/>
          <p:nvPr/>
        </p:nvSpPr>
        <p:spPr>
          <a:xfrm>
            <a:off x="7461504" y="5881421"/>
            <a:ext cx="3072384" cy="163860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461504" y="5881421"/>
            <a:ext cx="3072384" cy="10241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3" name="Text 41"/>
          <p:cNvSpPr/>
          <p:nvPr/>
        </p:nvSpPr>
        <p:spPr>
          <a:xfrm>
            <a:off x="7461504" y="6027725"/>
            <a:ext cx="307238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20" b="1" dirty="0">
                <a:solidFill>
                  <a:srgbClr val="94A3B8"/>
                </a:solidFill>
              </a:rPr>
              <a:t>n = 16</a:t>
            </a:r>
            <a:endParaRPr lang="en-US" sz="1920" dirty="0"/>
          </a:p>
        </p:txBody>
      </p:sp>
      <p:sp>
        <p:nvSpPr>
          <p:cNvPr id="44" name="Text 42"/>
          <p:cNvSpPr/>
          <p:nvPr/>
        </p:nvSpPr>
        <p:spPr>
          <a:xfrm>
            <a:off x="7461504" y="6466637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dirty="0">
                <a:solidFill>
                  <a:srgbClr val="0F172A"/>
                </a:solidFill>
              </a:rPr>
              <a:t>Passive Scrollers</a:t>
            </a:r>
            <a:endParaRPr lang="en-US" sz="1440" dirty="0"/>
          </a:p>
        </p:txBody>
      </p:sp>
      <p:sp>
        <p:nvSpPr>
          <p:cNvPr id="45" name="Text 43"/>
          <p:cNvSpPr/>
          <p:nvPr/>
        </p:nvSpPr>
        <p:spPr>
          <a:xfrm>
            <a:off x="7461504" y="6993331"/>
            <a:ext cx="307238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60" dirty="0">
                <a:solidFill>
                  <a:srgbClr val="64748B"/>
                </a:solidFill>
              </a:rPr>
              <a:t>PI: 2.02  |  IB: 1.66</a:t>
            </a:r>
            <a:endParaRPr lang="en-US" sz="1360" dirty="0"/>
          </a:p>
        </p:txBody>
      </p:sp>
      <p:sp>
        <p:nvSpPr>
          <p:cNvPr id="46" name="Shape 44"/>
          <p:cNvSpPr/>
          <p:nvPr/>
        </p:nvSpPr>
        <p:spPr>
          <a:xfrm>
            <a:off x="10972800" y="5881421"/>
            <a:ext cx="3072384" cy="163860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0972800" y="5881421"/>
            <a:ext cx="3072384" cy="102413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8" name="Text 46"/>
          <p:cNvSpPr/>
          <p:nvPr/>
        </p:nvSpPr>
        <p:spPr>
          <a:xfrm>
            <a:off x="10972800" y="6027725"/>
            <a:ext cx="307238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20" b="1" dirty="0">
                <a:solidFill>
                  <a:srgbClr val="16A34A"/>
                </a:solidFill>
              </a:rPr>
              <a:t>n = 27</a:t>
            </a:r>
            <a:endParaRPr lang="en-US" sz="1920" dirty="0"/>
          </a:p>
        </p:txBody>
      </p:sp>
      <p:sp>
        <p:nvSpPr>
          <p:cNvPr id="49" name="Text 47"/>
          <p:cNvSpPr/>
          <p:nvPr/>
        </p:nvSpPr>
        <p:spPr>
          <a:xfrm>
            <a:off x="10972800" y="6466637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dirty="0">
                <a:solidFill>
                  <a:srgbClr val="0F172A"/>
                </a:solidFill>
              </a:rPr>
              <a:t>Intentional Buyers</a:t>
            </a:r>
            <a:endParaRPr lang="en-US" sz="1440" dirty="0"/>
          </a:p>
        </p:txBody>
      </p:sp>
      <p:sp>
        <p:nvSpPr>
          <p:cNvPr id="50" name="Text 48"/>
          <p:cNvSpPr/>
          <p:nvPr/>
        </p:nvSpPr>
        <p:spPr>
          <a:xfrm>
            <a:off x="10972800" y="6993331"/>
            <a:ext cx="307238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60" dirty="0">
                <a:solidFill>
                  <a:srgbClr val="64748B"/>
                </a:solidFill>
              </a:rPr>
              <a:t>PI: 4.11  |  IB: 2.28</a:t>
            </a:r>
            <a:endParaRPr lang="en-US" sz="1360" dirty="0"/>
          </a:p>
        </p:txBody>
      </p:sp>
      <p:sp>
        <p:nvSpPr>
          <p:cNvPr id="51" name="Shape 49"/>
          <p:cNvSpPr/>
          <p:nvPr/>
        </p:nvSpPr>
        <p:spPr>
          <a:xfrm>
            <a:off x="438912" y="7607808"/>
            <a:ext cx="13752576" cy="3657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52" name="Text 50"/>
          <p:cNvSpPr/>
          <p:nvPr/>
        </p:nvSpPr>
        <p:spPr>
          <a:xfrm>
            <a:off x="585216" y="7622438"/>
            <a:ext cx="13459968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60" dirty="0">
                <a:solidFill>
                  <a:srgbClr val="64748B"/>
                </a:solidFill>
              </a:rPr>
              <a:t>PI = Purchase Intention Score  |  IB = Impulse Buying Score  |  Scale: 1 (Low) to 5 (High)  |  O3: Distinct segments confirmed ✅</a:t>
            </a:r>
            <a:endParaRPr lang="en-US" sz="1360" dirty="0"/>
          </a:p>
        </p:txBody>
      </p:sp>
    </p:spTree>
    <p:extLst>
      <p:ext uri="{BB962C8B-B14F-4D97-AF65-F5344CB8AC3E}">
        <p14:creationId xmlns:p14="http://schemas.microsoft.com/office/powerpoint/2010/main" val="204858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2435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0"/>
            <a:ext cx="13459968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520" b="1" dirty="0">
                <a:solidFill>
                  <a:srgbClr val="FFFFFF"/>
                </a:solidFill>
              </a:rPr>
              <a:t>Hypothesis Testing — Complete Summary</a:t>
            </a:r>
            <a:endParaRPr lang="en-US" sz="3520" dirty="0"/>
          </a:p>
        </p:txBody>
      </p:sp>
      <p:sp>
        <p:nvSpPr>
          <p:cNvPr id="5" name="Text 3"/>
          <p:cNvSpPr/>
          <p:nvPr/>
        </p:nvSpPr>
        <p:spPr>
          <a:xfrm>
            <a:off x="11996928" y="321869"/>
            <a:ext cx="234086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438912" y="1463040"/>
            <a:ext cx="13752576" cy="55595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614477" y="1463040"/>
            <a:ext cx="877824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Hyp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80083" y="1463040"/>
            <a:ext cx="7534656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Statement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87891" y="1463040"/>
            <a:ext cx="109728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DV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58323" y="1463040"/>
            <a:ext cx="1199693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Beta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631168" y="1463040"/>
            <a:ext cx="1199693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p-value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904013" y="1463040"/>
            <a:ext cx="1316736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Result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8912" y="2077517"/>
            <a:ext cx="13752576" cy="702259"/>
          </a:xfrm>
          <a:prstGeom prst="rect">
            <a:avLst/>
          </a:prstGeom>
          <a:solidFill>
            <a:srgbClr val="F4F6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7" y="2077517"/>
            <a:ext cx="87782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334155"/>
                </a:solidFill>
              </a:rPr>
              <a:t>H1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80083" y="2077517"/>
            <a:ext cx="753465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dirty="0">
                <a:solidFill>
                  <a:srgbClr val="334155"/>
                </a:solidFill>
              </a:rPr>
              <a:t>Influencer Trust → Purchase Intention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9187891" y="2077517"/>
            <a:ext cx="1097280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20" dirty="0">
                <a:solidFill>
                  <a:srgbClr val="64748B"/>
                </a:solidFill>
              </a:rPr>
              <a:t>PI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10358323" y="2077517"/>
            <a:ext cx="1199693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20" dirty="0">
                <a:solidFill>
                  <a:srgbClr val="64748B"/>
                </a:solidFill>
              </a:rPr>
              <a:t>0.119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11631168" y="2077517"/>
            <a:ext cx="1199693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20" dirty="0">
                <a:solidFill>
                  <a:srgbClr val="64748B"/>
                </a:solidFill>
              </a:rPr>
              <a:t>0.158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12904013" y="2077517"/>
            <a:ext cx="131673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40" dirty="0">
                <a:solidFill>
                  <a:srgbClr val="DC2626"/>
                </a:solidFill>
              </a:rPr>
              <a:t>❌ Not Supported</a:t>
            </a:r>
            <a:endParaRPr lang="en-US" sz="1440" dirty="0"/>
          </a:p>
        </p:txBody>
      </p:sp>
      <p:sp>
        <p:nvSpPr>
          <p:cNvPr id="20" name="Shape 18"/>
          <p:cNvSpPr/>
          <p:nvPr/>
        </p:nvSpPr>
        <p:spPr>
          <a:xfrm>
            <a:off x="438912" y="2809037"/>
            <a:ext cx="13752576" cy="702259"/>
          </a:xfrm>
          <a:prstGeom prst="rect">
            <a:avLst/>
          </a:prstGeom>
          <a:solidFill>
            <a:srgbClr val="F0FDF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7" y="2809037"/>
            <a:ext cx="87782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6A34A"/>
                </a:solidFill>
              </a:rPr>
              <a:t>H2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80083" y="2809037"/>
            <a:ext cx="753465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dirty="0">
                <a:solidFill>
                  <a:srgbClr val="16A34A"/>
                </a:solidFill>
              </a:rPr>
              <a:t>Social Proof → Purchase Intention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9187891" y="2809037"/>
            <a:ext cx="1097280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20" dirty="0">
                <a:solidFill>
                  <a:srgbClr val="64748B"/>
                </a:solidFill>
              </a:rPr>
              <a:t>PI</a:t>
            </a:r>
            <a:endParaRPr lang="en-US" sz="1520" dirty="0"/>
          </a:p>
        </p:txBody>
      </p:sp>
      <p:sp>
        <p:nvSpPr>
          <p:cNvPr id="24" name="Text 22"/>
          <p:cNvSpPr/>
          <p:nvPr/>
        </p:nvSpPr>
        <p:spPr>
          <a:xfrm>
            <a:off x="10358323" y="2809037"/>
            <a:ext cx="1199693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20" dirty="0">
                <a:solidFill>
                  <a:srgbClr val="64748B"/>
                </a:solidFill>
              </a:rPr>
              <a:t>0.219</a:t>
            </a:r>
            <a:endParaRPr lang="en-US" sz="1520" dirty="0"/>
          </a:p>
        </p:txBody>
      </p:sp>
      <p:sp>
        <p:nvSpPr>
          <p:cNvPr id="25" name="Text 23"/>
          <p:cNvSpPr/>
          <p:nvPr/>
        </p:nvSpPr>
        <p:spPr>
          <a:xfrm>
            <a:off x="11631168" y="2809037"/>
            <a:ext cx="1199693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20" dirty="0">
                <a:solidFill>
                  <a:srgbClr val="64748B"/>
                </a:solidFill>
              </a:rPr>
              <a:t>0.012</a:t>
            </a:r>
            <a:endParaRPr lang="en-US" sz="1520" dirty="0"/>
          </a:p>
        </p:txBody>
      </p:sp>
      <p:sp>
        <p:nvSpPr>
          <p:cNvPr id="26" name="Text 24"/>
          <p:cNvSpPr/>
          <p:nvPr/>
        </p:nvSpPr>
        <p:spPr>
          <a:xfrm>
            <a:off x="12904013" y="2809037"/>
            <a:ext cx="131673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40" b="1" dirty="0">
                <a:solidFill>
                  <a:srgbClr val="16A34A"/>
                </a:solidFill>
              </a:rPr>
              <a:t>✅ Supported</a:t>
            </a:r>
            <a:endParaRPr lang="en-US" sz="1440" dirty="0"/>
          </a:p>
        </p:txBody>
      </p:sp>
      <p:sp>
        <p:nvSpPr>
          <p:cNvPr id="27" name="Shape 25"/>
          <p:cNvSpPr/>
          <p:nvPr/>
        </p:nvSpPr>
        <p:spPr>
          <a:xfrm>
            <a:off x="438912" y="3540557"/>
            <a:ext cx="13752576" cy="702259"/>
          </a:xfrm>
          <a:prstGeom prst="rect">
            <a:avLst/>
          </a:prstGeom>
          <a:solidFill>
            <a:srgbClr val="F4F6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7" y="3540557"/>
            <a:ext cx="87782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334155"/>
                </a:solidFill>
              </a:rPr>
              <a:t>H3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80083" y="3540557"/>
            <a:ext cx="753465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dirty="0">
                <a:solidFill>
                  <a:srgbClr val="334155"/>
                </a:solidFill>
              </a:rPr>
              <a:t>SM Attitude → Purchase Intention</a:t>
            </a:r>
            <a:endParaRPr lang="en-US" sz="1520" dirty="0"/>
          </a:p>
        </p:txBody>
      </p:sp>
      <p:sp>
        <p:nvSpPr>
          <p:cNvPr id="30" name="Text 28"/>
          <p:cNvSpPr/>
          <p:nvPr/>
        </p:nvSpPr>
        <p:spPr>
          <a:xfrm>
            <a:off x="9187891" y="3540557"/>
            <a:ext cx="1097280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20" dirty="0">
                <a:solidFill>
                  <a:srgbClr val="64748B"/>
                </a:solidFill>
              </a:rPr>
              <a:t>PI</a:t>
            </a:r>
            <a:endParaRPr lang="en-US" sz="1520" dirty="0"/>
          </a:p>
        </p:txBody>
      </p:sp>
      <p:sp>
        <p:nvSpPr>
          <p:cNvPr id="31" name="Text 29"/>
          <p:cNvSpPr/>
          <p:nvPr/>
        </p:nvSpPr>
        <p:spPr>
          <a:xfrm>
            <a:off x="10358323" y="3540557"/>
            <a:ext cx="1199693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20" dirty="0">
                <a:solidFill>
                  <a:srgbClr val="64748B"/>
                </a:solidFill>
              </a:rPr>
              <a:t>0.087</a:t>
            </a:r>
            <a:endParaRPr lang="en-US" sz="1520" dirty="0"/>
          </a:p>
        </p:txBody>
      </p:sp>
      <p:sp>
        <p:nvSpPr>
          <p:cNvPr id="32" name="Text 30"/>
          <p:cNvSpPr/>
          <p:nvPr/>
        </p:nvSpPr>
        <p:spPr>
          <a:xfrm>
            <a:off x="11631168" y="3540557"/>
            <a:ext cx="1199693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20" dirty="0">
                <a:solidFill>
                  <a:srgbClr val="64748B"/>
                </a:solidFill>
              </a:rPr>
              <a:t>0.265</a:t>
            </a:r>
            <a:endParaRPr lang="en-US" sz="1520" dirty="0"/>
          </a:p>
        </p:txBody>
      </p:sp>
      <p:sp>
        <p:nvSpPr>
          <p:cNvPr id="33" name="Text 31"/>
          <p:cNvSpPr/>
          <p:nvPr/>
        </p:nvSpPr>
        <p:spPr>
          <a:xfrm>
            <a:off x="12904013" y="3540557"/>
            <a:ext cx="131673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40" dirty="0">
                <a:solidFill>
                  <a:srgbClr val="DC2626"/>
                </a:solidFill>
              </a:rPr>
              <a:t>❌ Not Supported</a:t>
            </a:r>
            <a:endParaRPr lang="en-US" sz="1440" dirty="0"/>
          </a:p>
        </p:txBody>
      </p:sp>
      <p:sp>
        <p:nvSpPr>
          <p:cNvPr id="34" name="Shape 32"/>
          <p:cNvSpPr/>
          <p:nvPr/>
        </p:nvSpPr>
        <p:spPr>
          <a:xfrm>
            <a:off x="438912" y="4272077"/>
            <a:ext cx="13752576" cy="702259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4477" y="4272077"/>
            <a:ext cx="87782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F172A"/>
                </a:solidFill>
              </a:rPr>
              <a:t>H1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580083" y="4272077"/>
            <a:ext cx="753465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dirty="0">
                <a:solidFill>
                  <a:srgbClr val="0F172A"/>
                </a:solidFill>
              </a:rPr>
              <a:t>Influencer Trust → Impulse Buying</a:t>
            </a:r>
            <a:endParaRPr lang="en-US" sz="1520" dirty="0"/>
          </a:p>
        </p:txBody>
      </p:sp>
      <p:sp>
        <p:nvSpPr>
          <p:cNvPr id="37" name="Text 35"/>
          <p:cNvSpPr/>
          <p:nvPr/>
        </p:nvSpPr>
        <p:spPr>
          <a:xfrm>
            <a:off x="9187891" y="4272077"/>
            <a:ext cx="1097280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20" dirty="0">
                <a:solidFill>
                  <a:srgbClr val="64748B"/>
                </a:solidFill>
              </a:rPr>
              <a:t>IB</a:t>
            </a:r>
            <a:endParaRPr lang="en-US" sz="1520" dirty="0"/>
          </a:p>
        </p:txBody>
      </p:sp>
      <p:sp>
        <p:nvSpPr>
          <p:cNvPr id="38" name="Text 36"/>
          <p:cNvSpPr/>
          <p:nvPr/>
        </p:nvSpPr>
        <p:spPr>
          <a:xfrm>
            <a:off x="10358323" y="4272077"/>
            <a:ext cx="1199693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20" dirty="0">
                <a:solidFill>
                  <a:srgbClr val="64748B"/>
                </a:solidFill>
              </a:rPr>
              <a:t>0.153</a:t>
            </a:r>
            <a:endParaRPr lang="en-US" sz="1520" dirty="0"/>
          </a:p>
        </p:txBody>
      </p:sp>
      <p:sp>
        <p:nvSpPr>
          <p:cNvPr id="39" name="Text 37"/>
          <p:cNvSpPr/>
          <p:nvPr/>
        </p:nvSpPr>
        <p:spPr>
          <a:xfrm>
            <a:off x="11631168" y="4272077"/>
            <a:ext cx="1199693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20" dirty="0">
                <a:solidFill>
                  <a:srgbClr val="64748B"/>
                </a:solidFill>
              </a:rPr>
              <a:t>0.090</a:t>
            </a:r>
            <a:endParaRPr lang="en-US" sz="1520" dirty="0"/>
          </a:p>
        </p:txBody>
      </p:sp>
      <p:sp>
        <p:nvSpPr>
          <p:cNvPr id="40" name="Text 38"/>
          <p:cNvSpPr/>
          <p:nvPr/>
        </p:nvSpPr>
        <p:spPr>
          <a:xfrm>
            <a:off x="12904013" y="4272077"/>
            <a:ext cx="131673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40" dirty="0">
                <a:solidFill>
                  <a:srgbClr val="DC2626"/>
                </a:solidFill>
              </a:rPr>
              <a:t>❌ Not Supported</a:t>
            </a:r>
            <a:endParaRPr lang="en-US" sz="1440" dirty="0"/>
          </a:p>
        </p:txBody>
      </p:sp>
      <p:sp>
        <p:nvSpPr>
          <p:cNvPr id="41" name="Shape 39"/>
          <p:cNvSpPr/>
          <p:nvPr/>
        </p:nvSpPr>
        <p:spPr>
          <a:xfrm>
            <a:off x="438912" y="5003597"/>
            <a:ext cx="13752576" cy="702259"/>
          </a:xfrm>
          <a:prstGeom prst="rect">
            <a:avLst/>
          </a:prstGeom>
          <a:solidFill>
            <a:srgbClr val="F4F6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4477" y="5003597"/>
            <a:ext cx="87782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334155"/>
                </a:solidFill>
              </a:rPr>
              <a:t>H2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580083" y="5003597"/>
            <a:ext cx="753465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dirty="0">
                <a:solidFill>
                  <a:srgbClr val="334155"/>
                </a:solidFill>
              </a:rPr>
              <a:t>Social Proof → Impulse Buying</a:t>
            </a:r>
            <a:endParaRPr lang="en-US" sz="1520" dirty="0"/>
          </a:p>
        </p:txBody>
      </p:sp>
      <p:sp>
        <p:nvSpPr>
          <p:cNvPr id="44" name="Text 42"/>
          <p:cNvSpPr/>
          <p:nvPr/>
        </p:nvSpPr>
        <p:spPr>
          <a:xfrm>
            <a:off x="9187891" y="5003597"/>
            <a:ext cx="1097280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20" dirty="0">
                <a:solidFill>
                  <a:srgbClr val="64748B"/>
                </a:solidFill>
              </a:rPr>
              <a:t>IB</a:t>
            </a:r>
            <a:endParaRPr lang="en-US" sz="1520" dirty="0"/>
          </a:p>
        </p:txBody>
      </p:sp>
      <p:sp>
        <p:nvSpPr>
          <p:cNvPr id="45" name="Text 43"/>
          <p:cNvSpPr/>
          <p:nvPr/>
        </p:nvSpPr>
        <p:spPr>
          <a:xfrm>
            <a:off x="10358323" y="5003597"/>
            <a:ext cx="1199693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20" dirty="0">
                <a:solidFill>
                  <a:srgbClr val="64748B"/>
                </a:solidFill>
              </a:rPr>
              <a:t>0.086</a:t>
            </a:r>
            <a:endParaRPr lang="en-US" sz="1520" dirty="0"/>
          </a:p>
        </p:txBody>
      </p:sp>
      <p:sp>
        <p:nvSpPr>
          <p:cNvPr id="46" name="Text 44"/>
          <p:cNvSpPr/>
          <p:nvPr/>
        </p:nvSpPr>
        <p:spPr>
          <a:xfrm>
            <a:off x="11631168" y="5003597"/>
            <a:ext cx="1199693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20" dirty="0">
                <a:solidFill>
                  <a:srgbClr val="64748B"/>
                </a:solidFill>
              </a:rPr>
              <a:t>0.347</a:t>
            </a:r>
            <a:endParaRPr lang="en-US" sz="1520" dirty="0"/>
          </a:p>
        </p:txBody>
      </p:sp>
      <p:sp>
        <p:nvSpPr>
          <p:cNvPr id="47" name="Text 45"/>
          <p:cNvSpPr/>
          <p:nvPr/>
        </p:nvSpPr>
        <p:spPr>
          <a:xfrm>
            <a:off x="12904013" y="5003597"/>
            <a:ext cx="131673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40" dirty="0">
                <a:solidFill>
                  <a:srgbClr val="DC2626"/>
                </a:solidFill>
              </a:rPr>
              <a:t>❌ Not Supported</a:t>
            </a:r>
            <a:endParaRPr lang="en-US" sz="1440" dirty="0"/>
          </a:p>
        </p:txBody>
      </p:sp>
      <p:sp>
        <p:nvSpPr>
          <p:cNvPr id="48" name="Shape 46"/>
          <p:cNvSpPr/>
          <p:nvPr/>
        </p:nvSpPr>
        <p:spPr>
          <a:xfrm>
            <a:off x="438912" y="5735117"/>
            <a:ext cx="13752576" cy="702259"/>
          </a:xfrm>
          <a:prstGeom prst="rect">
            <a:avLst/>
          </a:prstGeom>
          <a:solidFill>
            <a:srgbClr val="F0FDF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4477" y="5735117"/>
            <a:ext cx="87782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6A34A"/>
                </a:solidFill>
              </a:rPr>
              <a:t>H3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580083" y="5735117"/>
            <a:ext cx="753465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dirty="0">
                <a:solidFill>
                  <a:srgbClr val="16A34A"/>
                </a:solidFill>
              </a:rPr>
              <a:t>SM Attitude → Impulse Buying</a:t>
            </a:r>
            <a:endParaRPr lang="en-US" sz="1520" dirty="0"/>
          </a:p>
        </p:txBody>
      </p:sp>
      <p:sp>
        <p:nvSpPr>
          <p:cNvPr id="51" name="Text 49"/>
          <p:cNvSpPr/>
          <p:nvPr/>
        </p:nvSpPr>
        <p:spPr>
          <a:xfrm>
            <a:off x="9187891" y="5735117"/>
            <a:ext cx="1097280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20" dirty="0">
                <a:solidFill>
                  <a:srgbClr val="64748B"/>
                </a:solidFill>
              </a:rPr>
              <a:t>IB</a:t>
            </a:r>
            <a:endParaRPr lang="en-US" sz="1520" dirty="0"/>
          </a:p>
        </p:txBody>
      </p:sp>
      <p:sp>
        <p:nvSpPr>
          <p:cNvPr id="52" name="Text 50"/>
          <p:cNvSpPr/>
          <p:nvPr/>
        </p:nvSpPr>
        <p:spPr>
          <a:xfrm>
            <a:off x="10358323" y="5735117"/>
            <a:ext cx="1199693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20" dirty="0">
                <a:solidFill>
                  <a:srgbClr val="64748B"/>
                </a:solidFill>
              </a:rPr>
              <a:t>0.250</a:t>
            </a:r>
            <a:endParaRPr lang="en-US" sz="1520" dirty="0"/>
          </a:p>
        </p:txBody>
      </p:sp>
      <p:sp>
        <p:nvSpPr>
          <p:cNvPr id="53" name="Text 51"/>
          <p:cNvSpPr/>
          <p:nvPr/>
        </p:nvSpPr>
        <p:spPr>
          <a:xfrm>
            <a:off x="11631168" y="5735117"/>
            <a:ext cx="1199693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20" dirty="0">
                <a:solidFill>
                  <a:srgbClr val="64748B"/>
                </a:solidFill>
              </a:rPr>
              <a:t>0.003</a:t>
            </a:r>
            <a:endParaRPr lang="en-US" sz="1520" dirty="0"/>
          </a:p>
        </p:txBody>
      </p:sp>
      <p:sp>
        <p:nvSpPr>
          <p:cNvPr id="54" name="Text 52"/>
          <p:cNvSpPr/>
          <p:nvPr/>
        </p:nvSpPr>
        <p:spPr>
          <a:xfrm>
            <a:off x="12904013" y="5735117"/>
            <a:ext cx="131673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40" b="1" dirty="0">
                <a:solidFill>
                  <a:srgbClr val="16A34A"/>
                </a:solidFill>
              </a:rPr>
              <a:t>✅ Supported</a:t>
            </a:r>
            <a:endParaRPr lang="en-US" sz="1440" dirty="0"/>
          </a:p>
        </p:txBody>
      </p:sp>
      <p:sp>
        <p:nvSpPr>
          <p:cNvPr id="55" name="Shape 53"/>
          <p:cNvSpPr/>
          <p:nvPr/>
        </p:nvSpPr>
        <p:spPr>
          <a:xfrm>
            <a:off x="438912" y="6466637"/>
            <a:ext cx="13752576" cy="702259"/>
          </a:xfrm>
          <a:prstGeom prst="rect">
            <a:avLst/>
          </a:prstGeom>
          <a:solidFill>
            <a:srgbClr val="F0FDF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4477" y="6466637"/>
            <a:ext cx="87782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6A34A"/>
                </a:solidFill>
              </a:rPr>
              <a:t>O3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580083" y="6466637"/>
            <a:ext cx="753465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dirty="0">
                <a:solidFill>
                  <a:srgbClr val="16A34A"/>
                </a:solidFill>
              </a:rPr>
              <a:t>Distinct consumer segments exist (K=6)</a:t>
            </a:r>
            <a:endParaRPr lang="en-US" sz="1520" dirty="0"/>
          </a:p>
        </p:txBody>
      </p:sp>
      <p:sp>
        <p:nvSpPr>
          <p:cNvPr id="58" name="Text 56"/>
          <p:cNvSpPr/>
          <p:nvPr/>
        </p:nvSpPr>
        <p:spPr>
          <a:xfrm>
            <a:off x="9187891" y="6466637"/>
            <a:ext cx="1097280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20" dirty="0">
                <a:solidFill>
                  <a:srgbClr val="64748B"/>
                </a:solidFill>
              </a:rPr>
              <a:t>—</a:t>
            </a:r>
            <a:endParaRPr lang="en-US" sz="1520" dirty="0"/>
          </a:p>
        </p:txBody>
      </p:sp>
      <p:sp>
        <p:nvSpPr>
          <p:cNvPr id="59" name="Text 57"/>
          <p:cNvSpPr/>
          <p:nvPr/>
        </p:nvSpPr>
        <p:spPr>
          <a:xfrm>
            <a:off x="10358323" y="6466637"/>
            <a:ext cx="1199693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20" dirty="0">
                <a:solidFill>
                  <a:srgbClr val="64748B"/>
                </a:solidFill>
              </a:rPr>
              <a:t>—</a:t>
            </a:r>
            <a:endParaRPr lang="en-US" sz="1520" dirty="0"/>
          </a:p>
        </p:txBody>
      </p:sp>
      <p:sp>
        <p:nvSpPr>
          <p:cNvPr id="60" name="Text 58"/>
          <p:cNvSpPr/>
          <p:nvPr/>
        </p:nvSpPr>
        <p:spPr>
          <a:xfrm>
            <a:off x="11631168" y="6466637"/>
            <a:ext cx="1199693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20" dirty="0">
                <a:solidFill>
                  <a:srgbClr val="64748B"/>
                </a:solidFill>
              </a:rPr>
              <a:t>—</a:t>
            </a:r>
            <a:endParaRPr lang="en-US" sz="1520" dirty="0"/>
          </a:p>
        </p:txBody>
      </p:sp>
      <p:sp>
        <p:nvSpPr>
          <p:cNvPr id="61" name="Text 59"/>
          <p:cNvSpPr/>
          <p:nvPr/>
        </p:nvSpPr>
        <p:spPr>
          <a:xfrm>
            <a:off x="12904013" y="6466637"/>
            <a:ext cx="131673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40" b="1" dirty="0">
                <a:solidFill>
                  <a:srgbClr val="16A34A"/>
                </a:solidFill>
              </a:rPr>
              <a:t>✅ Supported</a:t>
            </a:r>
            <a:endParaRPr lang="en-US" sz="1440" dirty="0"/>
          </a:p>
        </p:txBody>
      </p:sp>
      <p:sp>
        <p:nvSpPr>
          <p:cNvPr id="62" name="Shape 60"/>
          <p:cNvSpPr/>
          <p:nvPr/>
        </p:nvSpPr>
        <p:spPr>
          <a:xfrm>
            <a:off x="438912" y="7315200"/>
            <a:ext cx="6656832" cy="555955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8368" y="7344461"/>
            <a:ext cx="6291072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40" dirty="0">
                <a:solidFill>
                  <a:srgbClr val="16A34A"/>
                </a:solidFill>
              </a:rPr>
              <a:t>✅  H2 supported for PI  |  H3 supported for IB  |  O3 confirmed — 6 segments</a:t>
            </a:r>
            <a:endParaRPr lang="en-US" sz="1440" dirty="0"/>
          </a:p>
        </p:txBody>
      </p:sp>
      <p:sp>
        <p:nvSpPr>
          <p:cNvPr id="64" name="Shape 62"/>
          <p:cNvSpPr/>
          <p:nvPr/>
        </p:nvSpPr>
        <p:spPr>
          <a:xfrm>
            <a:off x="7534656" y="7315200"/>
            <a:ext cx="6656832" cy="555955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5" name="Text 63"/>
          <p:cNvSpPr/>
          <p:nvPr/>
        </p:nvSpPr>
        <p:spPr>
          <a:xfrm>
            <a:off x="7680960" y="7344461"/>
            <a:ext cx="6364224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40" dirty="0">
                <a:solidFill>
                  <a:srgbClr val="64748B"/>
                </a:solidFill>
              </a:rPr>
              <a:t>📌  Non-supported results show what does NOT drive buying — equally valuable as a finding</a:t>
            </a:r>
            <a:endParaRPr lang="en-US" sz="1440" dirty="0"/>
          </a:p>
        </p:txBody>
      </p:sp>
    </p:spTree>
    <p:extLst>
      <p:ext uri="{BB962C8B-B14F-4D97-AF65-F5344CB8AC3E}">
        <p14:creationId xmlns:p14="http://schemas.microsoft.com/office/powerpoint/2010/main" val="432172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-1463040"/>
            <a:ext cx="5852160" cy="5852160"/>
          </a:xfrm>
          <a:prstGeom prst="ellipse">
            <a:avLst/>
          </a:prstGeom>
          <a:solidFill>
            <a:srgbClr val="6C3483">
              <a:alpha val="18000"/>
            </a:srgbClr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5120640"/>
            <a:ext cx="5120640" cy="5120640"/>
          </a:xfrm>
          <a:prstGeom prst="ellipse">
            <a:avLst/>
          </a:prstGeom>
          <a:solidFill>
            <a:srgbClr val="E91E8C">
              <a:alpha val="15000"/>
            </a:srgbClr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63347" cy="82296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92608"/>
            <a:ext cx="134599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463040"/>
            <a:r>
              <a:rPr lang="en-US" sz="3840" b="1" dirty="0">
                <a:solidFill>
                  <a:srgbClr val="FFFFFF"/>
                </a:solidFill>
                <a:latin typeface="Calibri" panose="020F0502020204030204"/>
              </a:rPr>
              <a:t>Conclusions &amp; Recommendations</a:t>
            </a:r>
            <a:endParaRPr lang="en-US" sz="38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996928" y="321869"/>
            <a:ext cx="234086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463040"/>
            <a:endParaRPr lang="en-US" sz="14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55955" y="1316736"/>
            <a:ext cx="4315968" cy="3803904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5955" y="1316736"/>
            <a:ext cx="4315968" cy="117043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92301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2880" dirty="0">
                <a:solidFill>
                  <a:srgbClr val="000000"/>
                </a:solidFill>
                <a:latin typeface="Calibri" panose="020F0502020204030204"/>
              </a:rPr>
              <a:t>👥</a:t>
            </a:r>
            <a:endParaRPr lang="en-US" sz="288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492301" y="1492301"/>
            <a:ext cx="3218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>
              <a:lnSpc>
                <a:spcPct val="120000"/>
              </a:lnSpc>
            </a:pPr>
            <a:r>
              <a:rPr lang="en-US" b="1" dirty="0">
                <a:solidFill>
                  <a:srgbClr val="FFFFFF"/>
                </a:solidFill>
                <a:latin typeface="Calibri" panose="020F0502020204030204"/>
              </a:rPr>
              <a:t>Social Proof Drives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defTabSz="1463040">
              <a:lnSpc>
                <a:spcPct val="120000"/>
              </a:lnSpc>
            </a:pPr>
            <a:r>
              <a:rPr lang="en-US" b="1" dirty="0">
                <a:solidFill>
                  <a:srgbClr val="FFFFFF"/>
                </a:solidFill>
                <a:latin typeface="Calibri" panose="020F0502020204030204"/>
              </a:rPr>
              <a:t>Purchase Intention (H2 ✅)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2340864"/>
            <a:ext cx="387705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>
              <a:lnSpc>
                <a:spcPct val="130000"/>
              </a:lnSpc>
            </a:pPr>
            <a:r>
              <a:rPr lang="en-US" dirty="0">
                <a:solidFill>
                  <a:srgbClr val="CBD5E1"/>
                </a:solidFill>
                <a:latin typeface="Calibri" panose="020F0502020204030204"/>
              </a:rPr>
              <a:t>What peers say on social media is the #1 driver of purchase intention. Not influencers. Not ads. Peer reviews and community reactions convert browsers into buyers.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237683" y="1316736"/>
            <a:ext cx="4315968" cy="3803904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237683" y="1316736"/>
            <a:ext cx="4315968" cy="117043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15" name="Text 13"/>
          <p:cNvSpPr/>
          <p:nvPr/>
        </p:nvSpPr>
        <p:spPr>
          <a:xfrm>
            <a:off x="5413248" y="1492301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2880" dirty="0">
                <a:solidFill>
                  <a:srgbClr val="000000"/>
                </a:solidFill>
                <a:latin typeface="Calibri" panose="020F0502020204030204"/>
              </a:rPr>
              <a:t>⚡</a:t>
            </a:r>
            <a:endParaRPr lang="en-US" sz="288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74029" y="1492301"/>
            <a:ext cx="3218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>
              <a:lnSpc>
                <a:spcPct val="120000"/>
              </a:lnSpc>
            </a:pPr>
            <a:r>
              <a:rPr lang="en-US" b="1" dirty="0">
                <a:solidFill>
                  <a:srgbClr val="FFFFFF"/>
                </a:solidFill>
                <a:latin typeface="Calibri" panose="020F0502020204030204"/>
              </a:rPr>
              <a:t>SM Attitude Drives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defTabSz="1463040">
              <a:lnSpc>
                <a:spcPct val="120000"/>
              </a:lnSpc>
            </a:pPr>
            <a:r>
              <a:rPr lang="en-US" b="1" dirty="0">
                <a:solidFill>
                  <a:srgbClr val="FFFFFF"/>
                </a:solidFill>
                <a:latin typeface="Calibri" panose="020F0502020204030204"/>
              </a:rPr>
              <a:t>Impulse Buying (H3 ✅)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13248" y="2340864"/>
            <a:ext cx="387705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>
              <a:lnSpc>
                <a:spcPct val="130000"/>
              </a:lnSpc>
            </a:pPr>
            <a:r>
              <a:rPr lang="en-US" dirty="0">
                <a:solidFill>
                  <a:srgbClr val="CBD5E1"/>
                </a:solidFill>
                <a:latin typeface="Calibri" panose="020F0502020204030204"/>
              </a:rPr>
              <a:t>Students who enjoy social media marketing are more likely to buy impulsively. Positive brand perception leads to unplanned purchases.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919411" y="1316736"/>
            <a:ext cx="4315968" cy="3803904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919411" y="1316736"/>
            <a:ext cx="4315968" cy="117043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0" name="Text 18"/>
          <p:cNvSpPr/>
          <p:nvPr/>
        </p:nvSpPr>
        <p:spPr>
          <a:xfrm>
            <a:off x="10094976" y="1492301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2880" dirty="0">
                <a:solidFill>
                  <a:srgbClr val="000000"/>
                </a:solidFill>
                <a:latin typeface="Calibri" panose="020F0502020204030204"/>
              </a:rPr>
              <a:t>🎯</a:t>
            </a:r>
            <a:endParaRPr lang="en-US" sz="288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855757" y="1492301"/>
            <a:ext cx="3218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>
              <a:lnSpc>
                <a:spcPct val="120000"/>
              </a:lnSpc>
            </a:pPr>
            <a:r>
              <a:rPr lang="en-US" b="1" dirty="0">
                <a:solidFill>
                  <a:srgbClr val="FFFFFF"/>
                </a:solidFill>
                <a:latin typeface="Calibri" panose="020F0502020204030204"/>
              </a:rPr>
              <a:t>6 Distinct Buyer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defTabSz="1463040">
              <a:lnSpc>
                <a:spcPct val="120000"/>
              </a:lnSpc>
            </a:pPr>
            <a:r>
              <a:rPr lang="en-US" b="1" dirty="0">
                <a:solidFill>
                  <a:srgbClr val="FFFFFF"/>
                </a:solidFill>
                <a:latin typeface="Calibri" panose="020F0502020204030204"/>
              </a:rPr>
              <a:t>Segments (O3 ✅)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094976" y="2340864"/>
            <a:ext cx="387705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>
              <a:lnSpc>
                <a:spcPct val="130000"/>
              </a:lnSpc>
            </a:pPr>
            <a:r>
              <a:rPr lang="en-US" dirty="0">
                <a:solidFill>
                  <a:srgbClr val="CBD5E1"/>
                </a:solidFill>
                <a:latin typeface="Calibri" panose="020F0502020204030204"/>
              </a:rPr>
              <a:t>From High Engagers who buy most to Passive Scrollers who barely engage. One-size marketing does not fit all Indian college students.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55955" y="5296205"/>
            <a:ext cx="13459968" cy="4681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463040"/>
            <a:r>
              <a:rPr lang="en-US" sz="2080" b="1" dirty="0">
                <a:solidFill>
                  <a:srgbClr val="FFFFFF"/>
                </a:solidFill>
                <a:latin typeface="Calibri" panose="020F0502020204030204"/>
              </a:rPr>
              <a:t>Recommendations for Brands &amp; Marketers</a:t>
            </a:r>
            <a:endParaRPr lang="en-US" sz="208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55955" y="5925312"/>
            <a:ext cx="46817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2240" dirty="0">
                <a:solidFill>
                  <a:srgbClr val="000000"/>
                </a:solidFill>
                <a:latin typeface="Calibri" panose="020F0502020204030204"/>
              </a:rPr>
              <a:t>📣</a:t>
            </a:r>
            <a:endParaRPr lang="en-US" sz="22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68019" y="59253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600" b="1" dirty="0">
                <a:solidFill>
                  <a:srgbClr val="E91E8C"/>
                </a:solidFill>
                <a:latin typeface="Calibri" panose="020F0502020204030204"/>
              </a:rPr>
              <a:t>Build Social Proof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306470" y="592531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600" dirty="0">
                <a:solidFill>
                  <a:srgbClr val="94A3B8"/>
                </a:solidFill>
                <a:latin typeface="Calibri" panose="020F0502020204030204"/>
              </a:rPr>
              <a:t>Encourage UGC, reviews &amp; peer referrals — this directly drives purchase intention.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578547" y="5925312"/>
            <a:ext cx="46817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2240" dirty="0">
                <a:solidFill>
                  <a:srgbClr val="000000"/>
                </a:solidFill>
                <a:latin typeface="Calibri" panose="020F0502020204030204"/>
              </a:rPr>
              <a:t>💡</a:t>
            </a:r>
            <a:endParaRPr lang="en-US" sz="22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090611" y="59253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600" b="1" dirty="0">
                <a:solidFill>
                  <a:srgbClr val="E91E8C"/>
                </a:solidFill>
                <a:latin typeface="Calibri" panose="020F0502020204030204"/>
              </a:rPr>
              <a:t>Build Positive SM Attitude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329062" y="592531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600" dirty="0">
                <a:solidFill>
                  <a:srgbClr val="94A3B8"/>
                </a:solidFill>
                <a:latin typeface="Calibri" panose="020F0502020204030204"/>
              </a:rPr>
              <a:t>Create engaging content that builds brand affinity — this drives impulse buying.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55955" y="6803136"/>
            <a:ext cx="46817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2240" dirty="0">
                <a:solidFill>
                  <a:srgbClr val="000000"/>
                </a:solidFill>
                <a:latin typeface="Calibri" panose="020F0502020204030204"/>
              </a:rPr>
              <a:t>🎯</a:t>
            </a:r>
            <a:endParaRPr lang="en-US" sz="22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68019" y="680313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600" b="1" dirty="0">
                <a:solidFill>
                  <a:srgbClr val="E91E8C"/>
                </a:solidFill>
                <a:latin typeface="Calibri" panose="020F0502020204030204"/>
              </a:rPr>
              <a:t>Segment Your Marketing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306470" y="6803136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600" dirty="0">
                <a:solidFill>
                  <a:srgbClr val="94A3B8"/>
                </a:solidFill>
                <a:latin typeface="Calibri" panose="020F0502020204030204"/>
              </a:rPr>
              <a:t>Target High Engagers for conversions. Use different messages per segment.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578547" y="6803136"/>
            <a:ext cx="46817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2240" dirty="0">
                <a:solidFill>
                  <a:srgbClr val="000000"/>
                </a:solidFill>
                <a:latin typeface="Calibri" panose="020F0502020204030204"/>
              </a:rPr>
              <a:t>📱</a:t>
            </a:r>
            <a:endParaRPr lang="en-US" sz="22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090611" y="680313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600" b="1" dirty="0">
                <a:solidFill>
                  <a:srgbClr val="E91E8C"/>
                </a:solidFill>
                <a:latin typeface="Calibri" panose="020F0502020204030204"/>
              </a:rPr>
              <a:t>Focus on Instagram First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0329062" y="6803136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600" dirty="0">
                <a:solidFill>
                  <a:srgbClr val="94A3B8"/>
                </a:solidFill>
                <a:latin typeface="Calibri" panose="020F0502020204030204"/>
              </a:rPr>
              <a:t>58% named Instagram most influential. Prioritise it over other platforms.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67626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1678</Words>
  <Application>Microsoft Office PowerPoint</Application>
  <PresentationFormat>Custom</PresentationFormat>
  <Paragraphs>336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Calibri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Atharva</dc:creator>
  <cp:lastModifiedBy>atharva fiske</cp:lastModifiedBy>
  <cp:revision>10</cp:revision>
  <dcterms:created xsi:type="dcterms:W3CDTF">2026-04-06T05:54:31Z</dcterms:created>
  <dcterms:modified xsi:type="dcterms:W3CDTF">2026-05-18T02:56:30Z</dcterms:modified>
</cp:coreProperties>
</file>